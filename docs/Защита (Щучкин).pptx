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68" r:id="rId4"/>
    <p:sldId id="258" r:id="rId5"/>
    <p:sldId id="259" r:id="rId6"/>
    <p:sldId id="260" r:id="rId7"/>
    <p:sldId id="269" r:id="rId8"/>
    <p:sldId id="273" r:id="rId9"/>
    <p:sldId id="274" r:id="rId10"/>
    <p:sldId id="261" r:id="rId11"/>
    <p:sldId id="267" r:id="rId12"/>
    <p:sldId id="263" r:id="rId13"/>
    <p:sldId id="275" r:id="rId14"/>
    <p:sldId id="264" r:id="rId15"/>
    <p:sldId id="271" r:id="rId16"/>
    <p:sldId id="270" r:id="rId17"/>
    <p:sldId id="265" r:id="rId18"/>
    <p:sldId id="276" r:id="rId19"/>
    <p:sldId id="27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66D34"/>
    <a:srgbClr val="60C064"/>
    <a:srgbClr val="EAFDE7"/>
    <a:srgbClr val="F44800"/>
    <a:srgbClr val="FBCD95"/>
    <a:srgbClr val="FEF1DE"/>
    <a:srgbClr val="BD94EA"/>
    <a:srgbClr val="2F3464"/>
    <a:srgbClr val="F9E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45A87C58-F8F9-C4FD-C3B1-552C39AA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C72D818-CA9B-C583-7133-AC653C12B2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BF3345D7-174F-BF31-C842-760C2F14F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4744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9F3DC7B-423E-B79C-CCFD-24345839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1F560EAB-C57B-0CDD-FC89-2826FAF8F6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FC774C15-D59B-980B-9A4B-D3A9E31B6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4948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E21202C1-FED9-1D4E-F290-BA17C59A3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4C994D4C-BCD0-0B86-5C3C-DCE8800E2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F17E5C0A-9BDA-492F-EEDE-AB3020ED8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595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A9772528-4802-0FC7-1BAA-F63605AA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FD5D48CC-26DC-9B6C-25E7-79C87BAA6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0A89D919-B7C2-D1C3-546E-6BC9B67F6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7051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723a575a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38b723a575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>
          <a:extLst>
            <a:ext uri="{FF2B5EF4-FFF2-40B4-BE49-F238E27FC236}">
              <a16:creationId xmlns:a16="http://schemas.microsoft.com/office/drawing/2014/main" id="{9D496ABF-66B1-A4E4-CEF8-5FC0F8798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b723a575a_0_4:notes">
            <a:extLst>
              <a:ext uri="{FF2B5EF4-FFF2-40B4-BE49-F238E27FC236}">
                <a16:creationId xmlns:a16="http://schemas.microsoft.com/office/drawing/2014/main" id="{C18A3140-6ABC-3A69-005E-497A2872E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g38b723a575a_0_4:notes">
            <a:extLst>
              <a:ext uri="{FF2B5EF4-FFF2-40B4-BE49-F238E27FC236}">
                <a16:creationId xmlns:a16="http://schemas.microsoft.com/office/drawing/2014/main" id="{1F3DF3EA-10AA-2B98-6F1E-149AF9FC9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341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5D53F037-21C3-5BC2-BE75-0C34D79F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560A4682-CEBF-22ED-BCD4-E0A7600E2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B4609BFE-2721-AA60-90DB-2A034309E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49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216E0463-0827-CD12-3642-86368EC65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658394EB-DBFA-89EA-AA25-64D72D32D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3CDBCFE5-224A-933A-6588-BF2BD20C4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657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" y="481263"/>
            <a:ext cx="2846069" cy="119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270772" y="481264"/>
            <a:ext cx="5355870" cy="4078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2"/>
          </p:nvPr>
        </p:nvSpPr>
        <p:spPr>
          <a:xfrm>
            <a:off x="0" y="2051446"/>
            <a:ext cx="2846066" cy="2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3074670" y="481263"/>
            <a:ext cx="0" cy="4078704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sv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png"/><Relationship Id="rId15" Type="http://schemas.openxmlformats.org/officeDocument/2006/relationships/image" Target="../media/image3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34.webp"/><Relationship Id="rId4" Type="http://schemas.openxmlformats.org/officeDocument/2006/relationships/image" Target="../media/image33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1106051" y="1673052"/>
            <a:ext cx="7362900" cy="12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/>
              <a:t>Разработка системы управления группой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/>
              <a:t>роботов в условиях виртуальной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rPr lang="ru-RU" sz="3000" b="1"/>
              <a:t>лаборатории</a:t>
            </a:r>
            <a:endParaRPr sz="3000" b="1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000"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0" y="66744"/>
            <a:ext cx="9144000" cy="491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ru-RU" sz="1200"/>
              <a:t>Федеральное государственное автономное образовательное учреждение высшего образования «Московский физико-технический институт (национальный исследовательский университет)»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62162"/>
              <a:buNone/>
            </a:pPr>
            <a:r>
              <a:rPr lang="ru-RU" sz="1200"/>
              <a:t>Физтех-школа природоподобных, плазменных и ядерных технологий им. И. В. Курчатова</a:t>
            </a:r>
            <a:endParaRPr sz="1200"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6557210" y="4767263"/>
            <a:ext cx="258679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1</a:t>
            </a:fld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43000" y="1370283"/>
            <a:ext cx="6858000" cy="3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 на тему: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13"/>
          <p:cNvGrpSpPr/>
          <p:nvPr/>
        </p:nvGrpSpPr>
        <p:grpSpPr>
          <a:xfrm>
            <a:off x="1266323" y="3314448"/>
            <a:ext cx="5787194" cy="820430"/>
            <a:chOff x="2342146" y="4317039"/>
            <a:chExt cx="7716259" cy="1093907"/>
          </a:xfrm>
        </p:grpSpPr>
        <p:sp>
          <p:nvSpPr>
            <p:cNvPr id="90" name="Google Shape;90;p13"/>
            <p:cNvSpPr txBox="1"/>
            <p:nvPr/>
          </p:nvSpPr>
          <p:spPr>
            <a:xfrm>
              <a:off x="3264567" y="4317206"/>
              <a:ext cx="1251287" cy="3947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rm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Автор:</a:t>
              </a:r>
              <a:endPara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3"/>
            <p:cNvSpPr txBox="1"/>
            <p:nvPr/>
          </p:nvSpPr>
          <p:spPr>
            <a:xfrm>
              <a:off x="2342146" y="4711959"/>
              <a:ext cx="2173705" cy="698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Научный руководитель:</a:t>
              </a:r>
              <a:endParaRPr sz="15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3"/>
            <p:cNvSpPr txBox="1"/>
            <p:nvPr/>
          </p:nvSpPr>
          <p:spPr>
            <a:xfrm>
              <a:off x="4515853" y="4317039"/>
              <a:ext cx="5542552" cy="3950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студент группы Б07-202 Щучкин М. В.</a:t>
              </a:r>
              <a:endPara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4515853" y="4711959"/>
              <a:ext cx="5542552" cy="6989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ctr" anchorCtr="0">
              <a:normAutofit fontScale="92500"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rPr lang="ru-RU" sz="1500" dirty="0">
                  <a:solidFill>
                    <a:schemeClr val="dk1"/>
                  </a:solidFill>
                </a:rPr>
                <a:t>г</a:t>
              </a:r>
              <a:r>
                <a:rPr lang="ru-RU" sz="15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лавный научный сотрудник лаборатории робототехники КИ, д. т. н., доцент Карпов В. Э.</a:t>
              </a:r>
              <a:endParaRPr sz="15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" name="Google Shape;94;p13"/>
          <p:cNvCxnSpPr/>
          <p:nvPr/>
        </p:nvCxnSpPr>
        <p:spPr>
          <a:xfrm rot="10800000">
            <a:off x="1292364" y="3011735"/>
            <a:ext cx="598872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628650" y="262235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Введение</a:t>
            </a:r>
            <a:endParaRPr sz="2400" dirty="0"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cxnSp>
        <p:nvCxnSpPr>
          <p:cNvPr id="101" name="Google Shape;101;p14"/>
          <p:cNvCxnSpPr/>
          <p:nvPr/>
        </p:nvCxnSpPr>
        <p:spPr>
          <a:xfrm rot="10800000">
            <a:off x="704850" y="816178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4"/>
          <p:cNvSpPr/>
          <p:nvPr/>
        </p:nvSpPr>
        <p:spPr>
          <a:xfrm>
            <a:off x="352681" y="1034965"/>
            <a:ext cx="4713228" cy="3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r>
              <a:rPr lang="ru-RU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Развитие робототехники сопровождается ростом интереса к </a:t>
            </a:r>
            <a:r>
              <a:rPr lang="ru-RU" sz="12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группам роботов</a:t>
            </a:r>
            <a:r>
              <a:rPr lang="ru-RU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 системам удалённого доступа</a:t>
            </a:r>
            <a:r>
              <a:rPr lang="ru-RU" sz="1200" dirty="0"/>
              <a:t>.</a:t>
            </a:r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endParaRPr lang="ru-RU" sz="1200" dirty="0"/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r>
              <a:rPr lang="ru-RU" sz="1200" dirty="0"/>
              <a:t>Развитая экспериментальная база в робототехнике (парк роботов, арена, позиционирование) </a:t>
            </a:r>
            <a:r>
              <a:rPr lang="ru-RU" sz="1200" b="1" dirty="0"/>
              <a:t>есть не у всех</a:t>
            </a:r>
            <a:r>
              <a:rPr lang="ru-RU" sz="1200" dirty="0"/>
              <a:t>.</a:t>
            </a:r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endParaRPr lang="ru-RU" sz="1200" dirty="0"/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r>
              <a:rPr lang="ru-RU" sz="1200" dirty="0"/>
              <a:t>Нужны </a:t>
            </a:r>
            <a:r>
              <a:rPr lang="ru-RU" sz="1200" b="1" dirty="0"/>
              <a:t>унифицированные</a:t>
            </a:r>
            <a:r>
              <a:rPr lang="ru-RU" sz="1200" dirty="0"/>
              <a:t> решения, позволяющие получать удалённый доступ к реальному оборудованию через сеть: эксперимент ставится из любой точки, своим железом владеть не нужно.</a:t>
            </a:r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endParaRPr lang="ru-RU" sz="1200" dirty="0"/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r>
              <a:rPr lang="ru-RU" sz="1200" dirty="0"/>
              <a:t>Дополнительная необходимость – управление </a:t>
            </a:r>
            <a:r>
              <a:rPr lang="ru-RU" sz="1200" b="1" dirty="0"/>
              <a:t>разнородными</a:t>
            </a:r>
            <a:r>
              <a:rPr lang="ru-RU" sz="1200" dirty="0"/>
              <a:t> машинами.</a:t>
            </a:r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endParaRPr lang="ru-RU" sz="1200" dirty="0"/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+mj-lt"/>
              <a:buAutoNum type="arabicPeriod"/>
            </a:pPr>
            <a:r>
              <a:rPr lang="ru-RU" sz="1200" dirty="0"/>
              <a:t>Эксперимент на реальных роботах (а не только симуляция) + безопасность оборудования и воспроизводимость.</a:t>
            </a:r>
          </a:p>
        </p:txBody>
      </p:sp>
      <p:pic>
        <p:nvPicPr>
          <p:cNvPr id="2" name="Google Shape;103;p14">
            <a:extLst>
              <a:ext uri="{FF2B5EF4-FFF2-40B4-BE49-F238E27FC236}">
                <a16:creationId xmlns:a16="http://schemas.microsoft.com/office/drawing/2014/main" id="{54213180-0AC1-8A4E-B44B-619F7B3E44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9328" y="1356140"/>
            <a:ext cx="3800351" cy="2681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2FB673FF-E7B7-B6DE-9A12-094F4AD4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EBB6B10C-432E-9CE4-FBD9-24D5E50A3A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49" y="-1476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Актуальность</a:t>
            </a:r>
            <a:endParaRPr sz="2400" dirty="0"/>
          </a:p>
        </p:txBody>
      </p:sp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B99B51BA-7892-82B8-B784-64F082212C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cxnSp>
        <p:nvCxnSpPr>
          <p:cNvPr id="101" name="Google Shape;101;p14">
            <a:extLst>
              <a:ext uri="{FF2B5EF4-FFF2-40B4-BE49-F238E27FC236}">
                <a16:creationId xmlns:a16="http://schemas.microsoft.com/office/drawing/2014/main" id="{32AB9397-3957-1187-BDE8-03F8A7A844B1}"/>
              </a:ext>
            </a:extLst>
          </p:cNvPr>
          <p:cNvCxnSpPr/>
          <p:nvPr/>
        </p:nvCxnSpPr>
        <p:spPr>
          <a:xfrm rot="10800000">
            <a:off x="683585" y="495611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98A17BA1-0517-BCFE-75F1-A5C07A426059}"/>
              </a:ext>
            </a:extLst>
          </p:cNvPr>
          <p:cNvSpPr/>
          <p:nvPr/>
        </p:nvSpPr>
        <p:spPr>
          <a:xfrm>
            <a:off x="89572" y="630867"/>
            <a:ext cx="8964855" cy="425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49225" lvl="0">
              <a:buSzPts val="1250"/>
            </a:pP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Существующие решения: </a:t>
            </a:r>
            <a:r>
              <a:rPr lang="en-US" dirty="0"/>
              <a:t>R</a:t>
            </a:r>
            <a:r>
              <a:rPr lang="ru-RU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osbridge</a:t>
            </a: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ru-RU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Robotarium</a:t>
            </a: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Remote Lab Siena, </a:t>
            </a: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коммерческие системы -</a:t>
            </a:r>
            <a:r>
              <a:rPr lang="en-US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имеют существенные ограничения</a:t>
            </a:r>
            <a:r>
              <a:rPr lang="ru-RU" dirty="0"/>
              <a:t>:</a:t>
            </a:r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dirty="0"/>
              <a:t>Слабая поддержка гетерогенности</a:t>
            </a:r>
            <a:r>
              <a:rPr lang="en-US" dirty="0"/>
              <a:t>;</a:t>
            </a:r>
            <a:endParaRPr lang="ru-RU" dirty="0"/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Отсутствие единого протокола; </a:t>
            </a:r>
            <a:endParaRPr lang="en-US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dirty="0"/>
              <a:t>Проблемы безопасности и открытости</a:t>
            </a:r>
            <a:r>
              <a:rPr lang="en-US" dirty="0"/>
              <a:t>;</a:t>
            </a:r>
            <a:endParaRPr lang="ru-RU" dirty="0"/>
          </a:p>
          <a:p>
            <a:pPr marL="606425" lvl="1">
              <a:buSzPts val="1250"/>
            </a:pPr>
            <a:endParaRPr lang="ru-RU" dirty="0"/>
          </a:p>
          <a:p>
            <a:pPr marL="606425" lvl="1">
              <a:buSzPts val="1250"/>
            </a:pPr>
            <a:r>
              <a:rPr lang="ru-RU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Главное: </a:t>
            </a: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ориентированы на отдельного робота, </a:t>
            </a:r>
            <a:b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 не на группу как единый объект.</a:t>
            </a:r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●"/>
            </a:pPr>
            <a:endParaRPr lang="ru-RU" dirty="0"/>
          </a:p>
          <a:p>
            <a:pPr marL="149225" lvl="0">
              <a:buSzPts val="1250"/>
            </a:pPr>
            <a:r>
              <a:rPr lang="ru-RU" dirty="0"/>
              <a:t>Основные требования к</a:t>
            </a:r>
            <a:r>
              <a:rPr lang="ru-RU" b="1" dirty="0"/>
              <a:t> </a:t>
            </a:r>
            <a:r>
              <a:rPr lang="ru-RU" dirty="0"/>
              <a:t>виртуальной лаборатории для </a:t>
            </a:r>
            <a:br>
              <a:rPr lang="ru-RU" dirty="0"/>
            </a:br>
            <a:r>
              <a:rPr lang="ru-RU" dirty="0"/>
              <a:t>групповой робототехники:</a:t>
            </a:r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dirty="0"/>
              <a:t>Удалённое многопользовательское управление</a:t>
            </a:r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dirty="0"/>
              <a:t>Унифицированные интерфейсы для разнородных </a:t>
            </a:r>
            <a:br>
              <a:rPr lang="ru-RU" dirty="0"/>
            </a:br>
            <a:r>
              <a:rPr lang="ru-RU" dirty="0"/>
              <a:t>роботов</a:t>
            </a:r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dirty="0"/>
              <a:t>Поддержка групповых сценариев и процедур.</a:t>
            </a:r>
          </a:p>
          <a:p>
            <a:pPr marL="914400" lvl="1" indent="-307975">
              <a:buSzPts val="1250"/>
              <a:buFont typeface="+mj-lt"/>
              <a:buAutoNum type="arabicPeriod"/>
            </a:pPr>
            <a:r>
              <a:rPr lang="ru-RU" dirty="0"/>
              <a:t>Возможность безболезненного масштабирования</a:t>
            </a:r>
          </a:p>
          <a:p>
            <a:pPr marL="149225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</a:pPr>
            <a:endParaRPr lang="ru-RU" dirty="0"/>
          </a:p>
          <a:p>
            <a:pPr marL="457200" marR="0" lvl="0" indent="-3079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Char char="●"/>
            </a:pPr>
            <a:endParaRPr lang="ru-RU" dirty="0"/>
          </a:p>
          <a:p>
            <a:pPr marL="149225" lvl="0">
              <a:buSzPts val="1250"/>
            </a:pPr>
            <a:r>
              <a:rPr lang="ru-RU" b="1" dirty="0"/>
              <a:t>Гипотеза исследования: </a:t>
            </a:r>
            <a:r>
              <a:rPr lang="ru-RU" dirty="0"/>
              <a:t>Необходима разработка системы группового удалённого управления, учитывающей особенности группового поведения.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20696B-5F3C-794F-0953-2B12C8998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319" y="1190243"/>
            <a:ext cx="3536108" cy="2110687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ACBDF0-78E0-75BF-023B-1465DF0DE892}"/>
              </a:ext>
            </a:extLst>
          </p:cNvPr>
          <p:cNvSpPr/>
          <p:nvPr/>
        </p:nvSpPr>
        <p:spPr>
          <a:xfrm>
            <a:off x="179279" y="4350544"/>
            <a:ext cx="8413898" cy="6907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95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28650" y="360421"/>
            <a:ext cx="8010300" cy="4495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0650"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Цель: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Повышение эффективности экспериментальных исследований в области групповой робототехники путем создания системы управления виртуальной лабораторией с учетом специфики группового взаимодействия.</a:t>
            </a:r>
            <a:endParaRPr dirty="0"/>
          </a:p>
          <a:p>
            <a:pPr marL="120650"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Задачи:</a:t>
            </a:r>
            <a:b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Провести сравнительный анализ существующих решений в области удаленного 	управления роботами и веб-интерфейсов и сформировать на его основе 	требования к системе управления группой роботов.</a:t>
            </a: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Разработать архитектуру системы виртуальной лаборатории с поддержкой 	различных типов устройств и протоколов взаимодействия.</a:t>
            </a: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Реализовать алгоритмы и методы удаленного управления, соответствующие 	требованиям к подобным системам.</a:t>
            </a: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Разработать клиентский интерфейс для управления роботами с возможностью 	видеотрансляции, сбора телеметрии и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отправкой команд в реальном времени.</a:t>
            </a:r>
            <a:br>
              <a:rPr lang="ru-RU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ru-RU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Сконструировать гетерогенную группу роботов, </a:t>
            </a:r>
            <a:r>
              <a:rPr lang="ru-RU" dirty="0">
                <a:solidFill>
                  <a:schemeClr val="dk1"/>
                </a:solidFill>
              </a:rPr>
              <a:t>п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ровести серию испытаний 	системы</a:t>
            </a:r>
            <a:r>
              <a:rPr lang="ru-RU" dirty="0">
                <a:solidFill>
                  <a:schemeClr val="dk1"/>
                </a:solidFill>
              </a:rPr>
              <a:t>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и создать по ее итогам методическое руководство.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99237" y="56707"/>
            <a:ext cx="8959703" cy="48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ru-RU" b="1" dirty="0">
                <a:solidFill>
                  <a:schemeClr val="dk1"/>
                </a:solidFill>
              </a:rPr>
              <a:t>Объект исследования:</a:t>
            </a:r>
            <a:r>
              <a:rPr lang="ru-RU" dirty="0">
                <a:solidFill>
                  <a:schemeClr val="dk1"/>
                </a:solidFill>
              </a:rPr>
              <a:t> Распределённые системы управления техническими объектами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</a:pPr>
            <a:r>
              <a:rPr lang="ru-RU" b="1" dirty="0">
                <a:solidFill>
                  <a:schemeClr val="dk1"/>
                </a:solidFill>
              </a:rPr>
              <a:t>Предмет исследования:</a:t>
            </a:r>
            <a:r>
              <a:rPr lang="ru-RU" dirty="0">
                <a:solidFill>
                  <a:schemeClr val="dk1"/>
                </a:solidFill>
              </a:rPr>
              <a:t> Гетерогенные робототехнические системы с удалённым управлением </a:t>
            </a:r>
            <a:endParaRPr dirty="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127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</a:pPr>
            <a:r>
              <a:rPr lang="ru-RU" b="1" dirty="0">
                <a:solidFill>
                  <a:schemeClr val="dk1"/>
                </a:solidFill>
              </a:rPr>
              <a:t>Используемые методы:</a:t>
            </a:r>
            <a:endParaRPr b="1" dirty="0">
              <a:solidFill>
                <a:schemeClr val="dk1"/>
              </a:solidFill>
            </a:endParaRPr>
          </a:p>
          <a:p>
            <a:pPr marL="9525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объектно-ориентированное программирование</a:t>
            </a:r>
            <a:endParaRPr dirty="0">
              <a:solidFill>
                <a:schemeClr val="dk1"/>
              </a:solidFill>
            </a:endParaRPr>
          </a:p>
          <a:p>
            <a:pPr marL="9525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методы разработки распределенных систем</a:t>
            </a:r>
            <a:endParaRPr dirty="0">
              <a:solidFill>
                <a:schemeClr val="dk1"/>
              </a:solidFill>
            </a:endParaRPr>
          </a:p>
          <a:p>
            <a:pPr marL="9525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сетевые технологии передачи данных</a:t>
            </a:r>
            <a:endParaRPr dirty="0">
              <a:solidFill>
                <a:schemeClr val="dk1"/>
              </a:solidFill>
            </a:endParaRPr>
          </a:p>
          <a:p>
            <a:pPr marL="9525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асинхронное программирование</a:t>
            </a:r>
            <a:endParaRPr dirty="0">
              <a:solidFill>
                <a:schemeClr val="dk1"/>
              </a:solidFill>
            </a:endParaRPr>
          </a:p>
          <a:p>
            <a:pPr marL="9525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</a:rPr>
              <a:t>теория автоматического управления</a:t>
            </a:r>
            <a:endParaRPr lang="en-US" dirty="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endParaRPr lang="en-US" dirty="0">
              <a:solidFill>
                <a:schemeClr val="dk1"/>
              </a:solidFill>
            </a:endParaRPr>
          </a:p>
          <a:p>
            <a:pPr marL="12700" lvl="0">
              <a:buClr>
                <a:schemeClr val="dk1"/>
              </a:buClr>
              <a:buSzPts val="1200"/>
            </a:pPr>
            <a:r>
              <a:rPr lang="ru-RU" b="1" dirty="0">
                <a:solidFill>
                  <a:schemeClr val="dk1"/>
                </a:solidFill>
              </a:rPr>
              <a:t>Выносимые на защиту положения:</a:t>
            </a:r>
          </a:p>
          <a:p>
            <a:pPr marL="952500" lvl="1" indent="-342900"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b="1" dirty="0"/>
              <a:t>Архитектура удалённой лаборатории</a:t>
            </a:r>
            <a:r>
              <a:rPr lang="ru-RU" dirty="0"/>
              <a:t> «тонкое устройство — умный сервер», позволяющая организовать безопасное многопользовательское управление гетерогенной группой роботов. </a:t>
            </a:r>
          </a:p>
          <a:p>
            <a:pPr marL="952500" lvl="1" indent="-342900"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b="1" dirty="0"/>
              <a:t>Алгоритмы группового управления и навигации</a:t>
            </a:r>
            <a:r>
              <a:rPr lang="ru-RU" dirty="0"/>
              <a:t>, обеспечивающие безопасное выполнение команд, устойчивость к сетевым сбоям и координированное перемещение группы роботов. </a:t>
            </a:r>
          </a:p>
          <a:p>
            <a:pPr marL="952500" lvl="1" indent="-342900"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b="1" dirty="0"/>
              <a:t>Программный комплекс удалённой лаборатории</a:t>
            </a:r>
            <a:r>
              <a:rPr lang="ru-RU" dirty="0"/>
              <a:t>, реализующий единый протокол взаимодействия, контроль доступа и управление групповыми процедурами. </a:t>
            </a:r>
          </a:p>
          <a:p>
            <a:pPr marL="952500" lvl="1" indent="-342900">
              <a:buClr>
                <a:schemeClr val="dk1"/>
              </a:buClr>
              <a:buSzPts val="1200"/>
              <a:buFont typeface="+mj-lt"/>
              <a:buAutoNum type="arabicPeriod"/>
            </a:pPr>
            <a:r>
              <a:rPr lang="ru-RU" b="1" dirty="0"/>
              <a:t>Результаты экспериментальной проверки</a:t>
            </a:r>
            <a:r>
              <a:rPr lang="ru-RU" dirty="0"/>
              <a:t>, подтверждающие работоспособность системы на реальном оборудовании, устойчивость к потерям связи и эффективность групповой навигации.</a:t>
            </a:r>
            <a:endParaRPr lang="en-US"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150395" y="718381"/>
            <a:ext cx="2612828" cy="4346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200" dirty="0"/>
              <a:t>Принцип </a:t>
            </a:r>
            <a:r>
              <a:rPr lang="ru-RU" sz="1200" b="1" dirty="0"/>
              <a:t>«тонкое устройство — умный сервер»</a:t>
            </a:r>
            <a:r>
              <a:rPr lang="ru-RU" sz="1200" dirty="0"/>
              <a:t>: вся логика на сервере, на борту</a:t>
            </a:r>
            <a:br>
              <a:rPr lang="ru-RU" sz="1200" dirty="0"/>
            </a:br>
            <a:r>
              <a:rPr lang="ru-RU" sz="1200" dirty="0"/>
              <a:t>робота — прозрачный мост ESP-32 + низкоуровневый контроллер.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r>
              <a:rPr lang="ru-RU" sz="1200" b="1" dirty="0"/>
              <a:t>Сетевое ядро</a:t>
            </a:r>
            <a:br>
              <a:rPr lang="ru-RU" sz="1200" dirty="0"/>
            </a:br>
            <a:r>
              <a:rPr lang="ru-RU" sz="1200" dirty="0"/>
              <a:t>Задача: обеспечение связи с клиентом и поддержание работы всей системы.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r>
              <a:rPr lang="ru-RU" sz="1200" b="1" dirty="0"/>
              <a:t>Интерфейсы</a:t>
            </a:r>
            <a:br>
              <a:rPr lang="ru-RU" sz="1200" dirty="0"/>
            </a:br>
            <a:r>
              <a:rPr lang="ru-RU" sz="1200" dirty="0"/>
              <a:t>Задача: Представление команд сервера в требуемый для устройств вид.</a:t>
            </a:r>
          </a:p>
          <a:p>
            <a:endParaRPr lang="ru-RU" sz="1200" dirty="0"/>
          </a:p>
          <a:p>
            <a:r>
              <a:rPr lang="ru-RU" sz="1200" b="1" dirty="0"/>
              <a:t>Транспортный уровень</a:t>
            </a:r>
            <a:br>
              <a:rPr lang="ru-RU" sz="1200" dirty="0"/>
            </a:br>
            <a:r>
              <a:rPr lang="ru-RU" sz="1200" dirty="0"/>
              <a:t>Задача: Доставка команд на модули </a:t>
            </a:r>
            <a:r>
              <a:rPr lang="en-US" sz="1200" dirty="0"/>
              <a:t>ESP</a:t>
            </a:r>
            <a:r>
              <a:rPr lang="ru-RU" sz="1200" dirty="0"/>
              <a:t> и телеметрии на сервер.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2DE5E5-43DE-0022-F3D4-80E9F9CFC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91" r="3105"/>
          <a:stretch>
            <a:fillRect/>
          </a:stretch>
        </p:blipFill>
        <p:spPr>
          <a:xfrm>
            <a:off x="2763223" y="221295"/>
            <a:ext cx="6380777" cy="4595361"/>
          </a:xfrm>
          <a:prstGeom prst="rect">
            <a:avLst/>
          </a:prstGeom>
        </p:spPr>
      </p:pic>
      <p:cxnSp>
        <p:nvCxnSpPr>
          <p:cNvPr id="124" name="Google Shape;124;p17"/>
          <p:cNvCxnSpPr>
            <a:cxnSpLocks/>
          </p:cNvCxnSpPr>
          <p:nvPr/>
        </p:nvCxnSpPr>
        <p:spPr>
          <a:xfrm flipH="1">
            <a:off x="201486" y="402362"/>
            <a:ext cx="3149089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150395" y="-27248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Архитектура системы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A7CCD423-56D0-F7D3-583E-724FB221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180DA1-DAF9-BF03-4C00-02685D7E9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013" y="913690"/>
            <a:ext cx="4456987" cy="1637809"/>
          </a:xfrm>
          <a:prstGeom prst="rect">
            <a:avLst/>
          </a:prstGeom>
        </p:spPr>
      </p:pic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6F17C871-81F2-6C5E-D5EA-63A8301A33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021" y="-20024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Протоколы</a:t>
            </a:r>
            <a:r>
              <a:rPr lang="en-US" sz="2400" dirty="0"/>
              <a:t> </a:t>
            </a:r>
            <a:r>
              <a:rPr lang="ru-RU" sz="2400" dirty="0"/>
              <a:t>связи (задача унификации)</a:t>
            </a:r>
            <a:endParaRPr sz="2400" dirty="0"/>
          </a:p>
        </p:txBody>
      </p:sp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2071AF88-BB7B-38B4-B968-BCE45DC51E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7</a:t>
            </a:fld>
            <a:endParaRPr dirty="0"/>
          </a:p>
        </p:txBody>
      </p:sp>
      <p:cxnSp>
        <p:nvCxnSpPr>
          <p:cNvPr id="124" name="Google Shape;124;p17">
            <a:extLst>
              <a:ext uri="{FF2B5EF4-FFF2-40B4-BE49-F238E27FC236}">
                <a16:creationId xmlns:a16="http://schemas.microsoft.com/office/drawing/2014/main" id="{3C8D2E6A-5ACF-39C5-ED17-4A0F6E9BD6CB}"/>
              </a:ext>
            </a:extLst>
          </p:cNvPr>
          <p:cNvCxnSpPr/>
          <p:nvPr/>
        </p:nvCxnSpPr>
        <p:spPr>
          <a:xfrm rot="10800000">
            <a:off x="145539" y="438246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7">
            <a:extLst>
              <a:ext uri="{FF2B5EF4-FFF2-40B4-BE49-F238E27FC236}">
                <a16:creationId xmlns:a16="http://schemas.microsoft.com/office/drawing/2014/main" id="{E43B06F6-23C2-A726-8A56-8FF5C2369A8C}"/>
              </a:ext>
            </a:extLst>
          </p:cNvPr>
          <p:cNvSpPr/>
          <p:nvPr/>
        </p:nvSpPr>
        <p:spPr>
          <a:xfrm>
            <a:off x="40316" y="538716"/>
            <a:ext cx="5013693" cy="4525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200" b="1" dirty="0"/>
              <a:t>КТП</a:t>
            </a:r>
            <a:r>
              <a:rPr lang="ru-RU" sz="1200" dirty="0"/>
              <a:t> (командно-телеметрический протокол) </a:t>
            </a:r>
          </a:p>
          <a:p>
            <a:pPr marL="228600" indent="-228600">
              <a:buAutoNum type="arabicParenR"/>
            </a:pPr>
            <a:r>
              <a:rPr lang="ru-RU" sz="1200" b="1" dirty="0"/>
              <a:t>Связь: </a:t>
            </a:r>
            <a:r>
              <a:rPr lang="ru-RU" sz="1200" dirty="0"/>
              <a:t>Клиент ↔ сервер</a:t>
            </a:r>
            <a:r>
              <a:rPr lang="ru-RU" sz="1200" b="1" dirty="0"/>
              <a:t> </a:t>
            </a:r>
            <a:r>
              <a:rPr lang="ru-RU" sz="1200" dirty="0"/>
              <a:t>— прикладной уровень (L7).</a:t>
            </a:r>
          </a:p>
          <a:p>
            <a:pPr marL="228600" indent="-228600">
              <a:buAutoNum type="arabicParenR"/>
            </a:pPr>
            <a:r>
              <a:rPr lang="ru-RU" sz="1200" b="1" dirty="0"/>
              <a:t>Формат:</a:t>
            </a:r>
            <a:r>
              <a:rPr lang="ru-RU" sz="1200" dirty="0"/>
              <a:t> Пакеты </a:t>
            </a:r>
            <a:r>
              <a:rPr lang="en-US" sz="1200" dirty="0"/>
              <a:t>JSON </a:t>
            </a:r>
            <a:r>
              <a:rPr lang="ru-RU" sz="1200" dirty="0"/>
              <a:t>по постоянному соединению </a:t>
            </a:r>
            <a:r>
              <a:rPr lang="ru-RU" sz="1200" dirty="0" err="1"/>
              <a:t>WebSocket</a:t>
            </a:r>
            <a:r>
              <a:rPr lang="ru-RU" sz="1200" dirty="0"/>
              <a:t>. </a:t>
            </a:r>
          </a:p>
          <a:p>
            <a:pPr marL="228600" indent="-228600">
              <a:buAutoNum type="arabicParenR"/>
            </a:pPr>
            <a:r>
              <a:rPr lang="ru-RU" sz="1200" b="1" dirty="0"/>
              <a:t>Безопасность: </a:t>
            </a:r>
            <a:r>
              <a:rPr lang="ru-RU" sz="1200" dirty="0"/>
              <a:t>аутентификация HTTP Basic </a:t>
            </a:r>
            <a:r>
              <a:rPr lang="ru-RU" sz="1200" dirty="0" err="1"/>
              <a:t>Auth</a:t>
            </a:r>
            <a:r>
              <a:rPr lang="ru-RU" sz="1200" dirty="0"/>
              <a:t> в заголовке запроса.</a:t>
            </a:r>
          </a:p>
          <a:p>
            <a:pPr marL="228600" indent="-228600">
              <a:buAutoNum type="arabicParenR"/>
            </a:pPr>
            <a:r>
              <a:rPr lang="ru-RU" sz="1200" b="1" dirty="0"/>
              <a:t>Модель обмена </a:t>
            </a:r>
            <a:r>
              <a:rPr lang="ru-RU" sz="1200" dirty="0"/>
              <a:t>— асинхронная, три паттерна:</a:t>
            </a:r>
            <a:r>
              <a:rPr lang="en-US" sz="1200" dirty="0"/>
              <a:t> </a:t>
            </a:r>
            <a:r>
              <a:rPr lang="ru-RU" sz="1200" dirty="0"/>
              <a:t> запрос → подтверждение → результат</a:t>
            </a:r>
          </a:p>
          <a:p>
            <a:pPr marL="228600" indent="-228600">
              <a:buAutoNum type="arabicParenR"/>
            </a:pPr>
            <a:endParaRPr lang="ru-RU" sz="1200" dirty="0"/>
          </a:p>
          <a:p>
            <a:pPr marL="228600" indent="-228600">
              <a:buAutoNum type="arabicParenR"/>
            </a:pPr>
            <a:endParaRPr lang="ru-RU" sz="1200" dirty="0"/>
          </a:p>
          <a:p>
            <a:r>
              <a:rPr lang="ru-RU" sz="1200" b="1" dirty="0"/>
              <a:t>Пакеты интерфейса </a:t>
            </a:r>
          </a:p>
          <a:p>
            <a:pPr marL="228600" indent="-228600">
              <a:buAutoNum type="arabicParenR"/>
            </a:pPr>
            <a:r>
              <a:rPr lang="ru-RU" sz="1200" b="1" dirty="0"/>
              <a:t>Связь: </a:t>
            </a:r>
            <a:r>
              <a:rPr lang="ru-RU" sz="1200" dirty="0"/>
              <a:t>Сервер ↔ </a:t>
            </a:r>
            <a:r>
              <a:rPr lang="en-US" sz="1200" dirty="0"/>
              <a:t>ESP</a:t>
            </a:r>
            <a:r>
              <a:rPr lang="ru-RU" sz="1200" dirty="0"/>
              <a:t> — прикладной уровень (</a:t>
            </a:r>
            <a:r>
              <a:rPr lang="en-US" sz="1200" dirty="0"/>
              <a:t>L7</a:t>
            </a:r>
            <a:r>
              <a:rPr lang="ru-RU" sz="1200" dirty="0"/>
              <a:t>), поверх «виртуального» </a:t>
            </a:r>
            <a:r>
              <a:rPr lang="ru-RU" sz="1200" dirty="0" err="1"/>
              <a:t>tty</a:t>
            </a:r>
            <a:r>
              <a:rPr lang="ru-RU" sz="1200" dirty="0"/>
              <a:t>.</a:t>
            </a:r>
          </a:p>
          <a:p>
            <a:pPr marL="228600" indent="-228600">
              <a:buAutoNum type="arabicParenR"/>
            </a:pPr>
            <a:r>
              <a:rPr lang="ru-RU" sz="1200" b="1" dirty="0"/>
              <a:t>Формат: </a:t>
            </a:r>
            <a:r>
              <a:rPr lang="ru-RU" sz="1200" dirty="0"/>
              <a:t>пакеты понятные устройству: </a:t>
            </a:r>
            <a:r>
              <a:rPr lang="en-US" sz="1200" dirty="0"/>
              <a:t>r</a:t>
            </a:r>
            <a:r>
              <a:rPr lang="ru-RU" sz="1200" dirty="0" err="1"/>
              <a:t>osserial</a:t>
            </a:r>
            <a:r>
              <a:rPr lang="ru-RU" sz="1200" dirty="0"/>
              <a:t>-кадры (ROS) либо ASCII-строки (</a:t>
            </a:r>
            <a:r>
              <a:rPr lang="ru-RU" sz="1200" dirty="0" err="1"/>
              <a:t>serial</a:t>
            </a:r>
            <a:r>
              <a:rPr lang="ru-RU" sz="1200" dirty="0"/>
              <a:t>)</a:t>
            </a:r>
            <a:br>
              <a:rPr lang="ru-RU" sz="1200" dirty="0"/>
            </a:br>
            <a:r>
              <a:rPr lang="ru-RU" sz="1200" dirty="0"/>
              <a:t>Сервер преобразует унифицированные команды клиента в понятные контроллеру пакеты (зависит от интерфейса) и отправляет на </a:t>
            </a:r>
            <a:r>
              <a:rPr lang="en-US" sz="1200" dirty="0"/>
              <a:t>ESP-32 </a:t>
            </a:r>
            <a:r>
              <a:rPr lang="ru-RU" sz="1200" dirty="0"/>
              <a:t>по протоколу </a:t>
            </a:r>
            <a:r>
              <a:rPr lang="en-US" sz="1200" dirty="0"/>
              <a:t>TCP (</a:t>
            </a:r>
            <a:r>
              <a:rPr lang="en-US" sz="1200" dirty="0" err="1"/>
              <a:t>WiFi</a:t>
            </a:r>
            <a:r>
              <a:rPr lang="en-U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r>
              <a:rPr lang="ru-RU" sz="1200" b="1" dirty="0"/>
              <a:t>Мост ESP-32</a:t>
            </a:r>
            <a:r>
              <a:rPr lang="ru-RU" sz="1200" dirty="0"/>
              <a:t>: </a:t>
            </a:r>
          </a:p>
          <a:p>
            <a:pPr marL="228600" indent="-228600">
              <a:buAutoNum type="arabicParenR"/>
            </a:pPr>
            <a:r>
              <a:rPr lang="ru-RU" sz="1200" b="1" dirty="0"/>
              <a:t>Связь:</a:t>
            </a:r>
            <a:r>
              <a:rPr lang="ru-RU" sz="1200" dirty="0"/>
              <a:t> </a:t>
            </a:r>
            <a:r>
              <a:rPr lang="en-US" sz="1200" dirty="0"/>
              <a:t>ESP </a:t>
            </a:r>
            <a:r>
              <a:rPr lang="ru-RU" sz="1200" dirty="0"/>
              <a:t>↔  контроллер устройства: между транспортными </a:t>
            </a:r>
            <a:r>
              <a:rPr lang="en-US" sz="1200" dirty="0"/>
              <a:t> (L4) </a:t>
            </a:r>
            <a:r>
              <a:rPr lang="ru-RU" sz="1200" dirty="0"/>
              <a:t>уровнями </a:t>
            </a:r>
            <a:r>
              <a:rPr lang="en-US" sz="1200" dirty="0"/>
              <a:t>TCP </a:t>
            </a:r>
            <a:r>
              <a:rPr lang="ru-RU" sz="1200" dirty="0"/>
              <a:t>и </a:t>
            </a:r>
            <a:r>
              <a:rPr lang="en-US" sz="1200" dirty="0"/>
              <a:t>UART</a:t>
            </a:r>
            <a:br>
              <a:rPr lang="ru-RU" sz="1200" dirty="0"/>
            </a:br>
            <a:r>
              <a:rPr lang="ru-RU" sz="1200" b="1" dirty="0"/>
              <a:t>Формат: </a:t>
            </a:r>
            <a:r>
              <a:rPr lang="ru-RU" sz="1200" dirty="0"/>
              <a:t>Обмен потоками данных.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15F676-4F43-60CA-3220-CA37A6851408}"/>
              </a:ext>
            </a:extLst>
          </p:cNvPr>
          <p:cNvSpPr txBox="1"/>
          <p:nvPr/>
        </p:nvSpPr>
        <p:spPr>
          <a:xfrm>
            <a:off x="5120599" y="3092703"/>
            <a:ext cx="3746373" cy="73866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/>
              <a:t>Задача</a:t>
            </a:r>
            <a:r>
              <a:rPr lang="ru-RU" b="1" dirty="0"/>
              <a:t> унификации </a:t>
            </a:r>
            <a:r>
              <a:rPr lang="ru-RU" dirty="0"/>
              <a:t>решена на прикладном уровне (</a:t>
            </a:r>
            <a:r>
              <a:rPr lang="en-US" dirty="0"/>
              <a:t>L7</a:t>
            </a:r>
            <a:r>
              <a:rPr lang="ru-RU" dirty="0"/>
              <a:t>) средствами серверной абстракции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276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83AD3E2B-F02C-FFC8-9492-ED09FCA0A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110458-5F47-9863-1D79-ADB3E82EC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" y="39662"/>
            <a:ext cx="3408924" cy="5064175"/>
          </a:xfrm>
          <a:prstGeom prst="rect">
            <a:avLst/>
          </a:prstGeom>
        </p:spPr>
      </p:pic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1BD94361-DDC8-1C1A-17BB-987CD57EF2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5E91F305-F160-286B-1570-FEA070D153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3354" y="7724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1800" dirty="0"/>
              <a:t>Алгоритмы: планировщик команд и механизм потоковой доставки</a:t>
            </a:r>
            <a:endParaRPr sz="18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59B8FF6-A3E2-C104-F7FA-0E3B127F05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28"/>
          <a:stretch>
            <a:fillRect/>
          </a:stretch>
        </p:blipFill>
        <p:spPr>
          <a:xfrm>
            <a:off x="3406606" y="3868120"/>
            <a:ext cx="5292841" cy="1267656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D3B64DB-C7E3-80F5-B826-57CAA687D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2467" y="1765827"/>
            <a:ext cx="4171533" cy="2361456"/>
          </a:xfrm>
          <a:prstGeom prst="rect">
            <a:avLst/>
          </a:prstGeom>
        </p:spPr>
      </p:pic>
      <p:sp>
        <p:nvSpPr>
          <p:cNvPr id="5" name="Google Shape;109;p15">
            <a:extLst>
              <a:ext uri="{FF2B5EF4-FFF2-40B4-BE49-F238E27FC236}">
                <a16:creationId xmlns:a16="http://schemas.microsoft.com/office/drawing/2014/main" id="{7A11511C-B468-CE2F-0D15-DF1181E84E03}"/>
              </a:ext>
            </a:extLst>
          </p:cNvPr>
          <p:cNvSpPr/>
          <p:nvPr/>
        </p:nvSpPr>
        <p:spPr>
          <a:xfrm>
            <a:off x="2062406" y="470549"/>
            <a:ext cx="7028197" cy="3912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marR="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Планировщик. Очередь с приоритетами.</a:t>
            </a:r>
            <a:br>
              <a:rPr lang="en-US" sz="1200" b="1" dirty="0">
                <a:solidFill>
                  <a:schemeClr val="dk1"/>
                </a:solidFill>
              </a:rPr>
            </a:br>
            <a:r>
              <a:rPr lang="ru-RU" sz="1200" b="1" dirty="0">
                <a:solidFill>
                  <a:schemeClr val="dk1"/>
                </a:solidFill>
              </a:rPr>
              <a:t>Цель: </a:t>
            </a:r>
            <a:r>
              <a:rPr lang="ru-RU" sz="1200" dirty="0">
                <a:solidFill>
                  <a:schemeClr val="dk1"/>
                </a:solidFill>
              </a:rPr>
              <a:t>реализовать приоритетные очереди команд для каждого устройства.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b="1" dirty="0">
                <a:solidFill>
                  <a:schemeClr val="dk1"/>
                </a:solidFill>
              </a:rPr>
              <a:t>Зачем:</a:t>
            </a:r>
            <a:r>
              <a:rPr lang="ru-RU" sz="1200" dirty="0">
                <a:solidFill>
                  <a:schemeClr val="dk1"/>
                </a:solidFill>
              </a:rPr>
              <a:t>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команды строго последовательны; высокоприоритетная обгоняет очередь (экстренная остановка); </a:t>
            </a:r>
            <a:endParaRPr 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92100" marR="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Потоковая доставка: </a:t>
            </a:r>
            <a:b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Цель: </a:t>
            </a:r>
            <a:r>
              <a:rPr lang="ru-RU" sz="1200" dirty="0">
                <a:solidFill>
                  <a:schemeClr val="dk1"/>
                </a:solidFill>
              </a:rPr>
              <a:t>решить проблему нестабильного канала связи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b="1" dirty="0">
                <a:solidFill>
                  <a:schemeClr val="dk1"/>
                </a:solidFill>
              </a:rPr>
              <a:t>Идея:</a:t>
            </a:r>
            <a:r>
              <a:rPr lang="ru-RU" sz="1200" dirty="0">
                <a:solidFill>
                  <a:schemeClr val="dk1"/>
                </a:solidFill>
              </a:rPr>
              <a:t> </a:t>
            </a:r>
            <a:r>
              <a:rPr lang="ru-RU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целевое состояние повторяется потоком, </a:t>
            </a:r>
            <a:r>
              <a:rPr lang="ru-RU" sz="1200" dirty="0">
                <a:solidFill>
                  <a:schemeClr val="dk1"/>
                </a:solidFill>
              </a:rPr>
              <a:t>вместо одиночных сообщений.</a:t>
            </a:r>
            <a:endParaRPr lang="ru-RU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491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9D60C81A-8F33-9564-7C80-5C824980E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4F03F726-C438-907A-FD28-01E715A42F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74F673-CD89-152E-006D-28466890D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4262" y="521508"/>
            <a:ext cx="5366260" cy="949659"/>
          </a:xfrm>
          <a:prstGeom prst="rect">
            <a:avLst/>
          </a:prstGeom>
        </p:spPr>
      </p:pic>
      <p:cxnSp>
        <p:nvCxnSpPr>
          <p:cNvPr id="124" name="Google Shape;124;p17">
            <a:extLst>
              <a:ext uri="{FF2B5EF4-FFF2-40B4-BE49-F238E27FC236}">
                <a16:creationId xmlns:a16="http://schemas.microsoft.com/office/drawing/2014/main" id="{6C9C4290-773E-A86E-DFCA-EA499821DB7A}"/>
              </a:ext>
            </a:extLst>
          </p:cNvPr>
          <p:cNvCxnSpPr/>
          <p:nvPr/>
        </p:nvCxnSpPr>
        <p:spPr>
          <a:xfrm rot="10800000">
            <a:off x="698176" y="551454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D942E128-B5F6-4C81-F50D-C8BFAD968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75226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Алгоритмы: Групповая навигация «по домам»</a:t>
            </a:r>
            <a:endParaRPr sz="2400" dirty="0"/>
          </a:p>
        </p:txBody>
      </p:sp>
      <p:sp>
        <p:nvSpPr>
          <p:cNvPr id="5" name="Google Shape;109;p15">
            <a:extLst>
              <a:ext uri="{FF2B5EF4-FFF2-40B4-BE49-F238E27FC236}">
                <a16:creationId xmlns:a16="http://schemas.microsoft.com/office/drawing/2014/main" id="{6E2BBE3D-7658-6851-EC08-FB89BC6F530C}"/>
              </a:ext>
            </a:extLst>
          </p:cNvPr>
          <p:cNvSpPr/>
          <p:nvPr/>
        </p:nvSpPr>
        <p:spPr>
          <a:xfrm>
            <a:off x="73418" y="650147"/>
            <a:ext cx="3464041" cy="183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lvl="0" indent="-171450">
              <a:spcBef>
                <a:spcPts val="1000"/>
              </a:spcBef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Позиционирование — сигма-точечный фильтр Калмана (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UKF)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Кинематическая модель робота: состояние </a:t>
            </a:r>
            <a:r>
              <a:rPr lang="en-US" sz="1200" dirty="0">
                <a:solidFill>
                  <a:schemeClr val="dk1"/>
                </a:solidFill>
              </a:rPr>
              <a:t>[x, y, </a:t>
            </a: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1200" dirty="0">
                <a:solidFill>
                  <a:schemeClr val="dk1"/>
                </a:solidFill>
              </a:rPr>
              <a:t>], </a:t>
            </a:r>
            <a:r>
              <a:rPr lang="ru-RU" sz="1200" dirty="0">
                <a:solidFill>
                  <a:schemeClr val="dk1"/>
                </a:solidFill>
              </a:rPr>
              <a:t>управление </a:t>
            </a:r>
            <a:r>
              <a:rPr lang="en-US" sz="1200" dirty="0">
                <a:solidFill>
                  <a:schemeClr val="dk1"/>
                </a:solidFill>
              </a:rPr>
              <a:t>[v, </a:t>
            </a:r>
            <a:r>
              <a:rPr lang="el-GR" sz="1200" dirty="0">
                <a:solidFill>
                  <a:schemeClr val="dk1"/>
                </a:solidFill>
              </a:rPr>
              <a:t>ω]</a:t>
            </a:r>
            <a:br>
              <a:rPr lang="ru-RU" sz="1200" dirty="0">
                <a:solidFill>
                  <a:schemeClr val="dk1"/>
                </a:solidFill>
              </a:rPr>
            </a:br>
            <a:br>
              <a:rPr lang="ru-RU" sz="1200" dirty="0">
                <a:solidFill>
                  <a:schemeClr val="dk1"/>
                </a:solidFill>
              </a:rPr>
            </a:br>
            <a:r>
              <a:rPr lang="en-US" sz="1200" dirty="0">
                <a:solidFill>
                  <a:schemeClr val="dk1"/>
                </a:solidFill>
              </a:rPr>
              <a:t>x</a:t>
            </a:r>
            <a:r>
              <a:rPr lang="en-US" sz="700" dirty="0">
                <a:solidFill>
                  <a:schemeClr val="dk1"/>
                </a:solidFill>
              </a:rPr>
              <a:t>k+1</a:t>
            </a:r>
            <a:r>
              <a:rPr lang="en-US" sz="1100" dirty="0">
                <a:solidFill>
                  <a:schemeClr val="dk1"/>
                </a:solidFill>
              </a:rPr>
              <a:t> </a:t>
            </a:r>
            <a:r>
              <a:rPr lang="en-US" sz="1200" dirty="0">
                <a:solidFill>
                  <a:schemeClr val="dk1"/>
                </a:solidFill>
              </a:rPr>
              <a:t>= </a:t>
            </a:r>
            <a:r>
              <a:rPr lang="en-US" sz="1200" dirty="0" err="1">
                <a:solidFill>
                  <a:schemeClr val="dk1"/>
                </a:solidFill>
              </a:rPr>
              <a:t>x</a:t>
            </a:r>
            <a:r>
              <a:rPr lang="en-US" sz="900" dirty="0" err="1">
                <a:solidFill>
                  <a:schemeClr val="dk1"/>
                </a:solidFill>
              </a:rPr>
              <a:t>k</a:t>
            </a:r>
            <a:r>
              <a:rPr lang="en-US" sz="1200" dirty="0">
                <a:solidFill>
                  <a:schemeClr val="dk1"/>
                </a:solidFill>
              </a:rPr>
              <a:t>+ v · cos(</a:t>
            </a: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900" dirty="0">
                <a:solidFill>
                  <a:schemeClr val="dk1"/>
                </a:solidFill>
              </a:rPr>
              <a:t>k</a:t>
            </a:r>
            <a:r>
              <a:rPr lang="en-US" sz="1200" dirty="0">
                <a:solidFill>
                  <a:schemeClr val="dk1"/>
                </a:solidFill>
              </a:rPr>
              <a:t>) · </a:t>
            </a:r>
            <a:r>
              <a:rPr lang="el-GR" sz="1200" dirty="0">
                <a:solidFill>
                  <a:schemeClr val="dk1"/>
                </a:solidFill>
              </a:rPr>
              <a:t>Δ</a:t>
            </a:r>
            <a:r>
              <a:rPr lang="en-US" sz="1200" dirty="0">
                <a:solidFill>
                  <a:schemeClr val="dk1"/>
                </a:solidFill>
              </a:rPr>
              <a:t>t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en-US" sz="1200" dirty="0">
                <a:solidFill>
                  <a:schemeClr val="dk1"/>
                </a:solidFill>
              </a:rPr>
              <a:t>y</a:t>
            </a:r>
            <a:r>
              <a:rPr lang="en-US" sz="900" dirty="0">
                <a:solidFill>
                  <a:schemeClr val="dk1"/>
                </a:solidFill>
              </a:rPr>
              <a:t>k+1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200" dirty="0">
                <a:solidFill>
                  <a:schemeClr val="dk1"/>
                </a:solidFill>
              </a:rPr>
              <a:t>= </a:t>
            </a:r>
            <a:r>
              <a:rPr lang="en-US" sz="1200" dirty="0" err="1">
                <a:solidFill>
                  <a:schemeClr val="dk1"/>
                </a:solidFill>
              </a:rPr>
              <a:t>y</a:t>
            </a:r>
            <a:r>
              <a:rPr lang="en-US" sz="900" dirty="0" err="1">
                <a:solidFill>
                  <a:schemeClr val="dk1"/>
                </a:solidFill>
              </a:rPr>
              <a:t>k</a:t>
            </a:r>
            <a:r>
              <a:rPr lang="ru-RU" sz="900" dirty="0">
                <a:solidFill>
                  <a:schemeClr val="dk1"/>
                </a:solidFill>
              </a:rPr>
              <a:t> </a:t>
            </a:r>
            <a:r>
              <a:rPr lang="en-US" sz="1200" dirty="0">
                <a:solidFill>
                  <a:schemeClr val="dk1"/>
                </a:solidFill>
              </a:rPr>
              <a:t>+ v · sin(</a:t>
            </a: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900" dirty="0">
                <a:solidFill>
                  <a:schemeClr val="dk1"/>
                </a:solidFill>
              </a:rPr>
              <a:t>k</a:t>
            </a:r>
            <a:r>
              <a:rPr lang="en-US" sz="1200" dirty="0">
                <a:solidFill>
                  <a:schemeClr val="dk1"/>
                </a:solidFill>
              </a:rPr>
              <a:t>) · </a:t>
            </a:r>
            <a:r>
              <a:rPr lang="el-GR" sz="1200" dirty="0">
                <a:solidFill>
                  <a:schemeClr val="dk1"/>
                </a:solidFill>
              </a:rPr>
              <a:t>Δ</a:t>
            </a:r>
            <a:r>
              <a:rPr lang="en-US" sz="1200" dirty="0">
                <a:solidFill>
                  <a:schemeClr val="dk1"/>
                </a:solidFill>
              </a:rPr>
              <a:t>t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900" dirty="0">
                <a:solidFill>
                  <a:schemeClr val="dk1"/>
                </a:solidFill>
              </a:rPr>
              <a:t>k+1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200" dirty="0">
                <a:solidFill>
                  <a:schemeClr val="dk1"/>
                </a:solidFill>
              </a:rPr>
              <a:t>= </a:t>
            </a: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900" dirty="0">
                <a:solidFill>
                  <a:schemeClr val="dk1"/>
                </a:solidFill>
              </a:rPr>
              <a:t>k</a:t>
            </a:r>
            <a:r>
              <a:rPr lang="en-US" sz="1200" dirty="0">
                <a:solidFill>
                  <a:schemeClr val="dk1"/>
                </a:solidFill>
              </a:rPr>
              <a:t>+ </a:t>
            </a:r>
            <a:r>
              <a:rPr lang="el-GR" sz="1200" dirty="0">
                <a:solidFill>
                  <a:schemeClr val="dk1"/>
                </a:solidFill>
              </a:rPr>
              <a:t>ω · Δ</a:t>
            </a:r>
            <a:r>
              <a:rPr lang="en-US" sz="1200" dirty="0">
                <a:solidFill>
                  <a:schemeClr val="dk1"/>
                </a:solidFill>
              </a:rPr>
              <a:t>t</a:t>
            </a:r>
            <a:endParaRPr lang="ru-RU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9;p15">
            <a:extLst>
              <a:ext uri="{FF2B5EF4-FFF2-40B4-BE49-F238E27FC236}">
                <a16:creationId xmlns:a16="http://schemas.microsoft.com/office/drawing/2014/main" id="{66D0B222-B02A-DDEB-CF9D-F165D8DE9853}"/>
              </a:ext>
            </a:extLst>
          </p:cNvPr>
          <p:cNvSpPr/>
          <p:nvPr/>
        </p:nvSpPr>
        <p:spPr>
          <a:xfrm>
            <a:off x="73418" y="2489571"/>
            <a:ext cx="4111464" cy="183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lvl="0" indent="-171450">
              <a:spcBef>
                <a:spcPts val="1000"/>
              </a:spcBef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Модель камеры (источник измерений)</a:t>
            </a:r>
            <a:b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-RU" sz="12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Данные с двух камер </a:t>
            </a:r>
            <a:r>
              <a:rPr lang="ru-RU" sz="1200" dirty="0">
                <a:solidFill>
                  <a:schemeClr val="dk1"/>
                </a:solidFill>
              </a:rPr>
              <a:t>и </a:t>
            </a:r>
            <a:r>
              <a:rPr lang="en-US" sz="1200" dirty="0" err="1">
                <a:solidFill>
                  <a:schemeClr val="dk1"/>
                </a:solidFill>
              </a:rPr>
              <a:t>ArUco</a:t>
            </a:r>
            <a:r>
              <a:rPr lang="en-US" sz="1200" dirty="0">
                <a:solidFill>
                  <a:schemeClr val="dk1"/>
                </a:solidFill>
              </a:rPr>
              <a:t>:</a:t>
            </a:r>
            <a:br>
              <a:rPr lang="en-US" sz="1200" dirty="0">
                <a:solidFill>
                  <a:schemeClr val="dk1"/>
                </a:solidFill>
              </a:rPr>
            </a:br>
            <a:r>
              <a:rPr lang="el-GR" dirty="0"/>
              <a:t>z = [x+N(0,σ²ₚ), y+N(0,σ²ₚ),</a:t>
            </a:r>
            <a:r>
              <a:rPr lang="en-US" dirty="0"/>
              <a:t> </a:t>
            </a:r>
            <a:r>
              <a:rPr lang="el-GR" dirty="0"/>
              <a:t>θ+N(0,σ²</a:t>
            </a:r>
            <a:r>
              <a:rPr lang="el-GR" sz="900" dirty="0"/>
              <a:t>θ</a:t>
            </a:r>
            <a:r>
              <a:rPr lang="el-GR" dirty="0"/>
              <a:t>)]</a:t>
            </a:r>
            <a:endParaRPr lang="ru-RU" sz="12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7612410-BA36-C42C-C4E6-E7C3779C2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335993"/>
            <a:ext cx="2235540" cy="1666110"/>
          </a:xfrm>
          <a:prstGeom prst="rect">
            <a:avLst/>
          </a:prstGeom>
        </p:spPr>
      </p:pic>
      <p:sp>
        <p:nvSpPr>
          <p:cNvPr id="9" name="Google Shape;109;p15">
            <a:extLst>
              <a:ext uri="{FF2B5EF4-FFF2-40B4-BE49-F238E27FC236}">
                <a16:creationId xmlns:a16="http://schemas.microsoft.com/office/drawing/2014/main" id="{E8D4E7DC-05F4-4F56-01DC-89EE90241F0D}"/>
              </a:ext>
            </a:extLst>
          </p:cNvPr>
          <p:cNvSpPr/>
          <p:nvPr/>
        </p:nvSpPr>
        <p:spPr>
          <a:xfrm>
            <a:off x="3704321" y="1471167"/>
            <a:ext cx="5266143" cy="183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lvl="0" indent="-171450">
              <a:spcBef>
                <a:spcPts val="1000"/>
              </a:spcBef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Планирование пути — </a:t>
            </a:r>
            <a:r>
              <a:rPr lang="en-US" sz="1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A*</a:t>
            </a:r>
            <a:br>
              <a:rPr lang="en-US" sz="1200" b="1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Карта полигона: сетка занятости, робот может двигаться только в 4 соседние клетки (4-связность).</a:t>
            </a:r>
            <a:br>
              <a:rPr lang="ru-RU" sz="1200" b="1" dirty="0">
                <a:solidFill>
                  <a:schemeClr val="dk1"/>
                </a:solidFill>
              </a:rPr>
            </a:br>
            <a:r>
              <a:rPr lang="ru-RU" sz="1200" b="1" dirty="0">
                <a:solidFill>
                  <a:schemeClr val="dk1"/>
                </a:solidFill>
              </a:rPr>
              <a:t>Эвристика: </a:t>
            </a:r>
            <a:r>
              <a:rPr lang="ru-RU" sz="1200" dirty="0">
                <a:solidFill>
                  <a:schemeClr val="dk1"/>
                </a:solidFill>
              </a:rPr>
              <a:t>манхэттенское расстояние h = |</a:t>
            </a:r>
            <a:r>
              <a:rPr lang="ru-RU" sz="1200" dirty="0" err="1">
                <a:solidFill>
                  <a:schemeClr val="dk1"/>
                </a:solidFill>
              </a:rPr>
              <a:t>Δx</a:t>
            </a:r>
            <a:r>
              <a:rPr lang="ru-RU" sz="1200" dirty="0">
                <a:solidFill>
                  <a:schemeClr val="dk1"/>
                </a:solidFill>
              </a:rPr>
              <a:t>| + |</a:t>
            </a:r>
            <a:r>
              <a:rPr lang="ru-RU" sz="1200" dirty="0" err="1">
                <a:solidFill>
                  <a:schemeClr val="dk1"/>
                </a:solidFill>
              </a:rPr>
              <a:t>Δy</a:t>
            </a:r>
            <a:r>
              <a:rPr lang="ru-RU" sz="1200" dirty="0">
                <a:solidFill>
                  <a:schemeClr val="dk1"/>
                </a:solidFill>
              </a:rPr>
              <a:t>|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Запрещённые клетки: препятствия + зона инфляции (буфер радиусом 1 клетка) - чтобы маршрут не шёл вплотную к стенам.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Результат — последовательность опорных точек от старта до «дома».</a:t>
            </a:r>
          </a:p>
        </p:txBody>
      </p:sp>
      <p:sp>
        <p:nvSpPr>
          <p:cNvPr id="10" name="Google Shape;109;p15">
            <a:extLst>
              <a:ext uri="{FF2B5EF4-FFF2-40B4-BE49-F238E27FC236}">
                <a16:creationId xmlns:a16="http://schemas.microsoft.com/office/drawing/2014/main" id="{E6786BAD-8DC8-9702-B87D-A7D1E972012A}"/>
              </a:ext>
            </a:extLst>
          </p:cNvPr>
          <p:cNvSpPr/>
          <p:nvPr/>
        </p:nvSpPr>
        <p:spPr>
          <a:xfrm>
            <a:off x="3537459" y="3228850"/>
            <a:ext cx="5266143" cy="1839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92100" lvl="0" indent="-171450">
              <a:spcBef>
                <a:spcPts val="1000"/>
              </a:spcBef>
              <a:buClr>
                <a:schemeClr val="dk1"/>
              </a:buClr>
              <a:buSzPts val="1700"/>
              <a:buFont typeface="Arial"/>
              <a:buChar char="•"/>
            </a:pPr>
            <a:r>
              <a:rPr lang="ru-RU" sz="1200" b="1" dirty="0">
                <a:solidFill>
                  <a:schemeClr val="dk1"/>
                </a:solidFill>
              </a:rPr>
              <a:t>Движение — «модель одноколёсника»</a:t>
            </a:r>
            <a:br>
              <a:rPr lang="en-US" sz="1200" b="1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Целевой угол на текущую опорную точку</a:t>
            </a:r>
            <a:r>
              <a:rPr lang="en-US" sz="1200" dirty="0">
                <a:solidFill>
                  <a:schemeClr val="dk1"/>
                </a:solidFill>
              </a:rPr>
              <a:t>: </a:t>
            </a: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900" dirty="0">
                <a:solidFill>
                  <a:schemeClr val="dk1"/>
                </a:solidFill>
              </a:rPr>
              <a:t>target</a:t>
            </a:r>
            <a:r>
              <a:rPr lang="en-US" sz="1200" dirty="0">
                <a:solidFill>
                  <a:schemeClr val="dk1"/>
                </a:solidFill>
              </a:rPr>
              <a:t> = atan2(</a:t>
            </a:r>
            <a:r>
              <a:rPr lang="el-GR" sz="1200" dirty="0">
                <a:solidFill>
                  <a:schemeClr val="dk1"/>
                </a:solidFill>
              </a:rPr>
              <a:t>Δ</a:t>
            </a:r>
            <a:r>
              <a:rPr lang="en-US" sz="1200" dirty="0">
                <a:solidFill>
                  <a:schemeClr val="dk1"/>
                </a:solidFill>
              </a:rPr>
              <a:t>y, </a:t>
            </a:r>
            <a:r>
              <a:rPr lang="el-GR" sz="1200" dirty="0">
                <a:solidFill>
                  <a:schemeClr val="dk1"/>
                </a:solidFill>
              </a:rPr>
              <a:t>Δ</a:t>
            </a:r>
            <a:r>
              <a:rPr lang="en-US" sz="1200" dirty="0">
                <a:solidFill>
                  <a:schemeClr val="dk1"/>
                </a:solidFill>
              </a:rPr>
              <a:t>x)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b="1" dirty="0">
                <a:solidFill>
                  <a:schemeClr val="dk1"/>
                </a:solidFill>
              </a:rPr>
              <a:t>П-регулятор угла</a:t>
            </a:r>
            <a:r>
              <a:rPr lang="ru-RU" sz="1200" dirty="0">
                <a:solidFill>
                  <a:schemeClr val="dk1"/>
                </a:solidFill>
              </a:rPr>
              <a:t>: </a:t>
            </a:r>
            <a:r>
              <a:rPr lang="el-GR" sz="1200" dirty="0">
                <a:solidFill>
                  <a:schemeClr val="dk1"/>
                </a:solidFill>
              </a:rPr>
              <a:t>ω = </a:t>
            </a:r>
            <a:r>
              <a:rPr lang="en-US" sz="1200" dirty="0">
                <a:solidFill>
                  <a:schemeClr val="dk1"/>
                </a:solidFill>
              </a:rPr>
              <a:t>k·(</a:t>
            </a:r>
            <a:r>
              <a:rPr lang="el-GR" sz="1200" dirty="0">
                <a:solidFill>
                  <a:schemeClr val="dk1"/>
                </a:solidFill>
              </a:rPr>
              <a:t>θ</a:t>
            </a:r>
            <a:r>
              <a:rPr lang="en-US" sz="900" dirty="0">
                <a:solidFill>
                  <a:schemeClr val="dk1"/>
                </a:solidFill>
              </a:rPr>
              <a:t>target</a:t>
            </a:r>
            <a:r>
              <a:rPr lang="en-US" sz="1200" dirty="0">
                <a:solidFill>
                  <a:schemeClr val="dk1"/>
                </a:solidFill>
              </a:rPr>
              <a:t> − </a:t>
            </a:r>
            <a:r>
              <a:rPr lang="el-GR" sz="1200" dirty="0">
                <a:solidFill>
                  <a:schemeClr val="dk1"/>
                </a:solidFill>
              </a:rPr>
              <a:t>θ)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Линейная скорость: полная при |</a:t>
            </a:r>
            <a:r>
              <a:rPr lang="ru-RU" sz="1200" dirty="0" err="1">
                <a:solidFill>
                  <a:schemeClr val="dk1"/>
                </a:solidFill>
              </a:rPr>
              <a:t>Δθ</a:t>
            </a:r>
            <a:r>
              <a:rPr lang="ru-RU" sz="1200" dirty="0">
                <a:solidFill>
                  <a:schemeClr val="dk1"/>
                </a:solidFill>
              </a:rPr>
              <a:t>| &lt; 0.25 рад; плавно снижается до 0 при |</a:t>
            </a:r>
            <a:r>
              <a:rPr lang="ru-RU" sz="1200" dirty="0" err="1">
                <a:solidFill>
                  <a:schemeClr val="dk1"/>
                </a:solidFill>
              </a:rPr>
              <a:t>Δθ</a:t>
            </a:r>
            <a:r>
              <a:rPr lang="ru-RU" sz="1200" dirty="0">
                <a:solidFill>
                  <a:schemeClr val="dk1"/>
                </a:solidFill>
              </a:rPr>
              <a:t>| &gt; 1.0 рад (принцип «сначала повернуть — потом ехать»).</a:t>
            </a:r>
            <a:br>
              <a:rPr lang="ru-RU" sz="1200" dirty="0">
                <a:solidFill>
                  <a:schemeClr val="dk1"/>
                </a:solidFill>
              </a:rPr>
            </a:br>
            <a:r>
              <a:rPr lang="ru-RU" sz="1200" dirty="0">
                <a:solidFill>
                  <a:schemeClr val="dk1"/>
                </a:solidFill>
              </a:rPr>
              <a:t>Опорная точка достигнута при расстоянии &lt; 0.45 клетки → переход к следующей.</a:t>
            </a:r>
          </a:p>
        </p:txBody>
      </p:sp>
    </p:spTree>
    <p:extLst>
      <p:ext uri="{BB962C8B-B14F-4D97-AF65-F5344CB8AC3E}">
        <p14:creationId xmlns:p14="http://schemas.microsoft.com/office/powerpoint/2010/main" val="1973501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1677AB-2C12-5088-04CE-C6E6C16CD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29" y="1858416"/>
            <a:ext cx="5085927" cy="3257860"/>
          </a:xfrm>
          <a:prstGeom prst="rect">
            <a:avLst/>
          </a:prstGeom>
        </p:spPr>
      </p:pic>
      <p:sp>
        <p:nvSpPr>
          <p:cNvPr id="131" name="Google Shape;131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7886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Эксперименты</a:t>
            </a:r>
            <a:endParaRPr sz="2400" dirty="0"/>
          </a:p>
        </p:txBody>
      </p:sp>
      <p:sp>
        <p:nvSpPr>
          <p:cNvPr id="132" name="Google Shape;132;p18"/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cxnSp>
        <p:nvCxnSpPr>
          <p:cNvPr id="133" name="Google Shape;133;p18"/>
          <p:cNvCxnSpPr>
            <a:cxnSpLocks/>
          </p:cNvCxnSpPr>
          <p:nvPr/>
        </p:nvCxnSpPr>
        <p:spPr>
          <a:xfrm flipH="1">
            <a:off x="67996" y="497100"/>
            <a:ext cx="3689721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4" name="Google Shape;134;p18"/>
          <p:cNvSpPr/>
          <p:nvPr/>
        </p:nvSpPr>
        <p:spPr>
          <a:xfrm>
            <a:off x="67996" y="655940"/>
            <a:ext cx="3990071" cy="4299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285750" indent="-285750">
              <a:buFont typeface="+mj-lt"/>
              <a:buAutoNum type="arabicPeriod"/>
            </a:pPr>
            <a:r>
              <a:rPr lang="ru-RU" sz="1200" dirty="0"/>
              <a:t>Развёрнут сервер (ROS </a:t>
            </a:r>
            <a:r>
              <a:rPr lang="ru-RU" sz="1200" dirty="0" err="1"/>
              <a:t>Noetic</a:t>
            </a:r>
            <a:r>
              <a:rPr lang="ru-RU" sz="1200" dirty="0"/>
              <a:t>) + реальные роботы yarp-13 по WiFi.</a:t>
            </a:r>
          </a:p>
          <a:p>
            <a:pPr marL="285750" indent="-285750">
              <a:buFont typeface="+mj-lt"/>
              <a:buAutoNum type="arabicPeriod"/>
            </a:pPr>
            <a:r>
              <a:rPr lang="ru-RU" sz="1200" dirty="0"/>
              <a:t>Подтверждено: живая телеметрия; одиночные и групповые команды; аварийное прерывание; отказоустойчивость.</a:t>
            </a:r>
          </a:p>
          <a:p>
            <a:pPr marL="285750" indent="-285750">
              <a:buFont typeface="+mj-lt"/>
              <a:buAutoNum type="arabicPeriod"/>
            </a:pPr>
            <a:r>
              <a:rPr lang="ru-RU" sz="1200" dirty="0"/>
              <a:t>Групповой тест синхронизации (</a:t>
            </a:r>
            <a:r>
              <a:rPr lang="ru-RU" sz="1200" dirty="0" err="1"/>
              <a:t>sync-test</a:t>
            </a:r>
            <a:r>
              <a:rPr lang="ru-RU" sz="1200" dirty="0"/>
              <a:t>): синхронные </a:t>
            </a:r>
            <a:r>
              <a:rPr lang="ru-RU" sz="1200" dirty="0" err="1"/>
              <a:t>beep</a:t>
            </a:r>
            <a:r>
              <a:rPr lang="ru-RU" sz="1200" dirty="0"/>
              <a:t> / разворот влево / вправо + проверка живой телеметрии каждого робота.</a:t>
            </a:r>
          </a:p>
          <a:p>
            <a:pPr marL="285750" indent="-285750">
              <a:buFont typeface="+mj-lt"/>
              <a:buAutoNum type="arabicPeriod"/>
            </a:pPr>
            <a:r>
              <a:rPr lang="ru-RU" sz="1200" dirty="0"/>
              <a:t>Удалённое управление в т.ч. с Windows.</a:t>
            </a:r>
          </a:p>
          <a:p>
            <a:pPr marL="285750" indent="-285750">
              <a:buFont typeface="+mj-lt"/>
              <a:buAutoNum type="arabicPeriod"/>
            </a:pPr>
            <a:r>
              <a:rPr lang="ru-RU" sz="1200" dirty="0"/>
              <a:t>«По домам»: демонстрация прототипа навигации (симуляция/стенд).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00" dirty="0"/>
          </a:p>
          <a:p>
            <a:r>
              <a:rPr lang="ru-RU" sz="1200" b="1" dirty="0"/>
              <a:t>Выводы: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dirty="0"/>
              <a:t>Средняя сетевая задержка реакции на команду составляет не более 20мс.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dirty="0"/>
              <a:t>Потери пакетов при непрерывной отправке команд составляют не более 5%.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200" dirty="0"/>
              <a:t>Среднее время реагирования системы на потерю соеднинения с устройством составляет 45 секунд, с клиентом лаборатории – 2 секунды.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0A79619-A26F-CC00-2018-46E7430DF4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9" t="24741" r="19002" b="24317"/>
          <a:stretch>
            <a:fillRect/>
          </a:stretch>
        </p:blipFill>
        <p:spPr bwMode="auto">
          <a:xfrm>
            <a:off x="4778303" y="41120"/>
            <a:ext cx="3586716" cy="181729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>
          <a:extLst>
            <a:ext uri="{FF2B5EF4-FFF2-40B4-BE49-F238E27FC236}">
              <a16:creationId xmlns:a16="http://schemas.microsoft.com/office/drawing/2014/main" id="{FE19995E-B343-3BD4-EF74-59F2FCD0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>
            <a:extLst>
              <a:ext uri="{FF2B5EF4-FFF2-40B4-BE49-F238E27FC236}">
                <a16:creationId xmlns:a16="http://schemas.microsoft.com/office/drawing/2014/main" id="{1802E1DB-061A-A9D0-D721-14C8E774C9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340" y="201330"/>
            <a:ext cx="78867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Результаты</a:t>
            </a:r>
            <a:endParaRPr sz="2400" dirty="0"/>
          </a:p>
        </p:txBody>
      </p:sp>
      <p:sp>
        <p:nvSpPr>
          <p:cNvPr id="132" name="Google Shape;132;p18">
            <a:extLst>
              <a:ext uri="{FF2B5EF4-FFF2-40B4-BE49-F238E27FC236}">
                <a16:creationId xmlns:a16="http://schemas.microsoft.com/office/drawing/2014/main" id="{B9A9DBBD-CC83-008F-EBC6-86C8F090B5E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7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11</a:t>
            </a:fld>
            <a:endParaRPr dirty="0"/>
          </a:p>
        </p:txBody>
      </p:sp>
      <p:cxnSp>
        <p:nvCxnSpPr>
          <p:cNvPr id="133" name="Google Shape;133;p18">
            <a:extLst>
              <a:ext uri="{FF2B5EF4-FFF2-40B4-BE49-F238E27FC236}">
                <a16:creationId xmlns:a16="http://schemas.microsoft.com/office/drawing/2014/main" id="{6C136DFA-3DE1-84FB-FBB0-3B7004006819}"/>
              </a:ext>
            </a:extLst>
          </p:cNvPr>
          <p:cNvCxnSpPr/>
          <p:nvPr/>
        </p:nvCxnSpPr>
        <p:spPr>
          <a:xfrm rot="10800000">
            <a:off x="204353" y="733697"/>
            <a:ext cx="430020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125;p17">
            <a:extLst>
              <a:ext uri="{FF2B5EF4-FFF2-40B4-BE49-F238E27FC236}">
                <a16:creationId xmlns:a16="http://schemas.microsoft.com/office/drawing/2014/main" id="{94996B6C-346D-38FA-DC39-A70F497A9DC8}"/>
              </a:ext>
            </a:extLst>
          </p:cNvPr>
          <p:cNvSpPr/>
          <p:nvPr/>
        </p:nvSpPr>
        <p:spPr>
          <a:xfrm>
            <a:off x="-330356" y="816177"/>
            <a:ext cx="4902356" cy="3759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606425" lvl="1">
              <a:buSzPts val="1250"/>
            </a:pPr>
            <a:endParaRPr lang="ru-RU" dirty="0"/>
          </a:p>
          <a:p>
            <a:pPr marL="949325" lvl="1" indent="-342900">
              <a:buSzPts val="1250"/>
              <a:buFont typeface="+mj-lt"/>
              <a:buAutoNum type="arabicPeriod"/>
            </a:pPr>
            <a:r>
              <a:rPr lang="ru-RU" dirty="0"/>
              <a:t>Создано серверное ядро: 7 модулей (доступ, очередь, драйверы, супервизор, процедуры, телеметрия, сеть);</a:t>
            </a:r>
          </a:p>
          <a:p>
            <a:pPr marL="949325" lvl="1" indent="-342900">
              <a:buSzPts val="1250"/>
              <a:buFont typeface="+mj-lt"/>
              <a:buAutoNum type="arabicPeriod"/>
            </a:pPr>
            <a:endParaRPr lang="ru-RU" dirty="0"/>
          </a:p>
          <a:p>
            <a:pPr marL="949325" lvl="1" indent="-342900">
              <a:buSzPts val="1250"/>
              <a:buFont typeface="+mj-lt"/>
              <a:buAutoNum type="arabicPeriod"/>
            </a:pPr>
            <a:r>
              <a:rPr lang="ru-RU" dirty="0"/>
              <a:t>Обеспечена </a:t>
            </a:r>
            <a:r>
              <a:rPr lang="ru-RU" b="1" dirty="0"/>
              <a:t>гетерогенная</a:t>
            </a:r>
            <a:r>
              <a:rPr lang="ru-RU" dirty="0"/>
              <a:t> работа: ROS- и </a:t>
            </a:r>
            <a:r>
              <a:rPr lang="ru-RU" dirty="0" err="1"/>
              <a:t>serial</a:t>
            </a:r>
            <a:r>
              <a:rPr lang="ru-RU" dirty="0"/>
              <a:t>-устройства одновременно;</a:t>
            </a:r>
          </a:p>
          <a:p>
            <a:pPr marL="949325" lvl="1" indent="-342900">
              <a:buSzPts val="1250"/>
              <a:buFont typeface="+mj-lt"/>
              <a:buAutoNum type="arabicPeriod"/>
            </a:pPr>
            <a:endParaRPr lang="ru-RU" dirty="0"/>
          </a:p>
          <a:p>
            <a:pPr marL="949325" lvl="1" indent="-342900">
              <a:buSzPts val="1250"/>
              <a:buFont typeface="+mj-lt"/>
              <a:buAutoNum type="arabicPeriod"/>
            </a:pPr>
            <a:r>
              <a:rPr lang="ru-RU" dirty="0"/>
              <a:t>Реализованы средства надёжности функционирования: групповое управление на нестабильном канале (</a:t>
            </a:r>
            <a:r>
              <a:rPr lang="ru-RU" b="1" dirty="0"/>
              <a:t>надежность</a:t>
            </a:r>
            <a:r>
              <a:rPr lang="ru-RU" dirty="0"/>
              <a:t>); </a:t>
            </a:r>
            <a:r>
              <a:rPr lang="ru-RU" dirty="0" err="1"/>
              <a:t>автоперезапуск</a:t>
            </a:r>
            <a:r>
              <a:rPr lang="ru-RU" dirty="0"/>
              <a:t> устройства без потери команд (</a:t>
            </a:r>
            <a:r>
              <a:rPr lang="ru-RU" b="1" dirty="0"/>
              <a:t>отказоустойчивость)</a:t>
            </a:r>
            <a:r>
              <a:rPr lang="ru-RU" dirty="0"/>
              <a:t>;</a:t>
            </a:r>
          </a:p>
          <a:p>
            <a:pPr marL="949325" lvl="1" indent="-342900">
              <a:buSzPts val="1250"/>
              <a:buFont typeface="+mj-lt"/>
              <a:buAutoNum type="arabicPeriod"/>
            </a:pPr>
            <a:endParaRPr lang="ru-RU" dirty="0"/>
          </a:p>
          <a:p>
            <a:pPr marL="949325" lvl="1" indent="-342900">
              <a:buSzPts val="1250"/>
              <a:buFont typeface="+mj-lt"/>
              <a:buAutoNum type="arabicPeriod"/>
            </a:pPr>
            <a:r>
              <a:rPr lang="ru-RU" dirty="0"/>
              <a:t>Проведены испытания на </a:t>
            </a:r>
            <a:r>
              <a:rPr lang="ru-RU" b="1" dirty="0"/>
              <a:t>реальных</a:t>
            </a:r>
            <a:r>
              <a:rPr lang="ru-RU" dirty="0"/>
              <a:t> роботах, на основе чего составлено методическое руководство.</a:t>
            </a:r>
          </a:p>
          <a:p>
            <a:pPr marL="606425" lvl="1">
              <a:buSzPts val="1250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4B6585-89BB-267D-455E-4FCDED9CFE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99" t="17607" r="7373" b="23439"/>
          <a:stretch>
            <a:fillRect/>
          </a:stretch>
        </p:blipFill>
        <p:spPr>
          <a:xfrm>
            <a:off x="4785172" y="1388285"/>
            <a:ext cx="4241336" cy="217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74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4350F80B-FFA0-BF98-4871-A28EAC7D5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11DD1707-0AFB-EBA1-A41E-2930A26FAB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25" name="Google Shape;125;p17">
            <a:extLst>
              <a:ext uri="{FF2B5EF4-FFF2-40B4-BE49-F238E27FC236}">
                <a16:creationId xmlns:a16="http://schemas.microsoft.com/office/drawing/2014/main" id="{4011725F-AE03-B0D9-1C04-F8238821FE02}"/>
              </a:ext>
            </a:extLst>
          </p:cNvPr>
          <p:cNvSpPr/>
          <p:nvPr/>
        </p:nvSpPr>
        <p:spPr>
          <a:xfrm>
            <a:off x="393699" y="660200"/>
            <a:ext cx="8643509" cy="4295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r>
              <a:rPr lang="ru-RU" sz="1600" b="1" dirty="0"/>
              <a:t>Решенные задачи:</a:t>
            </a:r>
          </a:p>
          <a:p>
            <a:r>
              <a:rPr lang="ru-RU" dirty="0"/>
              <a:t>   1. Решены проблемы аналогов (безопасность, гетерогенность, унификация,    многопользовательский режим)</a:t>
            </a:r>
            <a:br>
              <a:rPr lang="ru-RU" dirty="0"/>
            </a:br>
            <a:r>
              <a:rPr lang="ru-RU" dirty="0"/>
              <a:t>   2. Создана виртуальная лаборатория для </a:t>
            </a:r>
            <a:r>
              <a:rPr lang="ru-RU" b="1" dirty="0"/>
              <a:t>группового управления </a:t>
            </a:r>
            <a:r>
              <a:rPr lang="ru-RU" dirty="0"/>
              <a:t>(доступ к </a:t>
            </a:r>
            <a:br>
              <a:rPr lang="ru-RU" dirty="0"/>
            </a:br>
            <a:r>
              <a:rPr lang="ru-RU" dirty="0"/>
              <a:t>   информации о всех агентах системы).</a:t>
            </a:r>
          </a:p>
          <a:p>
            <a:r>
              <a:rPr lang="ru-RU" dirty="0"/>
              <a:t>   3. Работоспособность системы подтверждена в реальных условиях.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sz="1600" b="1" dirty="0"/>
              <a:t>Ограничения полученной системы</a:t>
            </a:r>
            <a:r>
              <a:rPr lang="ru-RU" sz="1600" dirty="0"/>
              <a:t>: </a:t>
            </a:r>
            <a:br>
              <a:rPr lang="en-US" dirty="0"/>
            </a:br>
            <a:r>
              <a:rPr lang="ru-RU" dirty="0"/>
              <a:t>   </a:t>
            </a:r>
            <a:r>
              <a:rPr lang="en-US" dirty="0"/>
              <a:t>1. </a:t>
            </a:r>
            <a:r>
              <a:rPr lang="ru-RU" dirty="0"/>
              <a:t>зависимость от качества сети (задержки/потери).</a:t>
            </a:r>
            <a:br>
              <a:rPr lang="en-US" dirty="0"/>
            </a:br>
            <a:r>
              <a:rPr lang="ru-RU" dirty="0"/>
              <a:t>   </a:t>
            </a:r>
            <a:r>
              <a:rPr lang="en-US" dirty="0"/>
              <a:t>2. </a:t>
            </a:r>
            <a:r>
              <a:rPr lang="ru-RU" dirty="0"/>
              <a:t>необходимость контроля и обслуживания системы персоналом лаборатории.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sz="1600" b="1" dirty="0"/>
              <a:t>Перспективы:</a:t>
            </a:r>
          </a:p>
          <a:p>
            <a:r>
              <a:rPr lang="ru-RU" dirty="0"/>
              <a:t>   1. Веб-интерфейс с видеотрансляцией рабочей области.</a:t>
            </a:r>
          </a:p>
          <a:p>
            <a:r>
              <a:rPr lang="ru-RU" dirty="0"/>
              <a:t>   2. Расширение спектра поддерживаемых роботов.</a:t>
            </a:r>
          </a:p>
          <a:p>
            <a:r>
              <a:rPr lang="ru-RU" dirty="0"/>
              <a:t>   3. Автоматизация и снижение участия персонала в системе (система автоматической зарядки).</a:t>
            </a:r>
            <a:br>
              <a:rPr lang="ru-RU" dirty="0"/>
            </a:br>
            <a:r>
              <a:rPr lang="ru-RU" dirty="0"/>
              <a:t>   4. Разработка системы обеспечения безопасности на базе готовой системы </a:t>
            </a:r>
            <a:br>
              <a:rPr lang="ru-RU" dirty="0"/>
            </a:br>
            <a:r>
              <a:rPr lang="ru-RU" dirty="0"/>
              <a:t>   распознавания</a:t>
            </a:r>
            <a:r>
              <a:rPr lang="en-US" dirty="0"/>
              <a:t> </a:t>
            </a:r>
            <a:r>
              <a:rPr lang="en-US" dirty="0" err="1"/>
              <a:t>aruco</a:t>
            </a:r>
            <a:r>
              <a:rPr lang="ru-RU" dirty="0"/>
              <a:t> маркеров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4" name="Google Shape;122;p17">
            <a:extLst>
              <a:ext uri="{FF2B5EF4-FFF2-40B4-BE49-F238E27FC236}">
                <a16:creationId xmlns:a16="http://schemas.microsoft.com/office/drawing/2014/main" id="{835ACE31-8F9A-4C6A-A02F-8EA66F6347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75226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Заключение</a:t>
            </a:r>
            <a:endParaRPr sz="2400" dirty="0"/>
          </a:p>
        </p:txBody>
      </p:sp>
      <p:cxnSp>
        <p:nvCxnSpPr>
          <p:cNvPr id="2" name="Google Shape;133;p18">
            <a:extLst>
              <a:ext uri="{FF2B5EF4-FFF2-40B4-BE49-F238E27FC236}">
                <a16:creationId xmlns:a16="http://schemas.microsoft.com/office/drawing/2014/main" id="{CB6842B0-BCB9-0D73-40A0-5DD9C42D1EB3}"/>
              </a:ext>
            </a:extLst>
          </p:cNvPr>
          <p:cNvCxnSpPr/>
          <p:nvPr/>
        </p:nvCxnSpPr>
        <p:spPr>
          <a:xfrm rot="10800000">
            <a:off x="628649" y="520115"/>
            <a:ext cx="4300200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960687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B5B631-7B0E-2EF9-D040-CE1FC964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74664"/>
            <a:ext cx="7886700" cy="994172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Дополнительные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676233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2605BC9C-E3F5-3210-0003-F908AD968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>
            <a:extLst>
              <a:ext uri="{FF2B5EF4-FFF2-40B4-BE49-F238E27FC236}">
                <a16:creationId xmlns:a16="http://schemas.microsoft.com/office/drawing/2014/main" id="{D744E4A0-175C-D73D-97DE-66E0336272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581"/>
            <a:ext cx="7886700" cy="49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 sz="2400" dirty="0"/>
              <a:t>Серверная архитектура: модули ядра</a:t>
            </a:r>
            <a:endParaRPr sz="2400" dirty="0"/>
          </a:p>
        </p:txBody>
      </p:sp>
      <p:sp>
        <p:nvSpPr>
          <p:cNvPr id="123" name="Google Shape;123;p17">
            <a:extLst>
              <a:ext uri="{FF2B5EF4-FFF2-40B4-BE49-F238E27FC236}">
                <a16:creationId xmlns:a16="http://schemas.microsoft.com/office/drawing/2014/main" id="{A03D5382-7FA3-9A5D-A37E-8872CC8D51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30190" y="4767263"/>
            <a:ext cx="2213810" cy="376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cxnSp>
        <p:nvCxnSpPr>
          <p:cNvPr id="124" name="Google Shape;124;p17">
            <a:extLst>
              <a:ext uri="{FF2B5EF4-FFF2-40B4-BE49-F238E27FC236}">
                <a16:creationId xmlns:a16="http://schemas.microsoft.com/office/drawing/2014/main" id="{EECEAA83-20EC-B5A9-9EC5-12F58377780C}"/>
              </a:ext>
            </a:extLst>
          </p:cNvPr>
          <p:cNvCxnSpPr/>
          <p:nvPr/>
        </p:nvCxnSpPr>
        <p:spPr>
          <a:xfrm rot="10800000">
            <a:off x="698176" y="639912"/>
            <a:ext cx="4300287" cy="0"/>
          </a:xfrm>
          <a:prstGeom prst="straightConnector1">
            <a:avLst/>
          </a:prstGeom>
          <a:noFill/>
          <a:ln w="762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44ACC520-9B01-C1EB-67D0-6EB5DDAAE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796904"/>
              </p:ext>
            </p:extLst>
          </p:nvPr>
        </p:nvGraphicFramePr>
        <p:xfrm>
          <a:off x="370434" y="875535"/>
          <a:ext cx="8403132" cy="3843448"/>
        </p:xfrm>
        <a:graphic>
          <a:graphicData uri="http://schemas.openxmlformats.org/drawingml/2006/table">
            <a:tbl>
              <a:tblPr/>
              <a:tblGrid>
                <a:gridCol w="2801044">
                  <a:extLst>
                    <a:ext uri="{9D8B030D-6E8A-4147-A177-3AD203B41FA5}">
                      <a16:colId xmlns:a16="http://schemas.microsoft.com/office/drawing/2014/main" val="273230721"/>
                    </a:ext>
                  </a:extLst>
                </a:gridCol>
                <a:gridCol w="2801044">
                  <a:extLst>
                    <a:ext uri="{9D8B030D-6E8A-4147-A177-3AD203B41FA5}">
                      <a16:colId xmlns:a16="http://schemas.microsoft.com/office/drawing/2014/main" val="3021810178"/>
                    </a:ext>
                  </a:extLst>
                </a:gridCol>
                <a:gridCol w="2801044">
                  <a:extLst>
                    <a:ext uri="{9D8B030D-6E8A-4147-A177-3AD203B41FA5}">
                      <a16:colId xmlns:a16="http://schemas.microsoft.com/office/drawing/2014/main" val="4003996253"/>
                    </a:ext>
                  </a:extLst>
                </a:gridCol>
              </a:tblGrid>
              <a:tr h="1905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</a:rPr>
                        <a:t>Модуль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</a:rPr>
                        <a:t>Задача (зачем)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</a:rPr>
                        <a:t>Вход → Выход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311395"/>
                  </a:ext>
                </a:extLst>
              </a:tr>
              <a:tr h="43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Сетевой модуль</a:t>
                      </a:r>
                      <a:r>
                        <a:rPr lang="ru-RU" sz="1200" dirty="0">
                          <a:effectLst/>
                        </a:rPr>
                        <a:t> (</a:t>
                      </a:r>
                      <a:r>
                        <a:rPr lang="en-US" sz="1200" dirty="0">
                          <a:effectLst/>
                        </a:rPr>
                        <a:t>WebSocket + auth)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принять клиента, аутентифицировать, маршрутизировать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WS-сообщения → вызовы ядра / ответы клиенту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688623"/>
                  </a:ext>
                </a:extLst>
              </a:tr>
              <a:tr h="43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Модуль контроля</a:t>
                      </a:r>
                      <a:endParaRPr lang="ru-RU" sz="120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разграничение прав на устройства (монопольный/общий)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запрос + client_id → разрешено / отказано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496551"/>
                  </a:ext>
                </a:extLst>
              </a:tr>
              <a:tr h="56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Планировщик команд</a:t>
                      </a:r>
                      <a:endParaRPr lang="ru-RU" sz="120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приоритетная очередь на устройство, последовательное исполнение, </a:t>
                      </a:r>
                      <a:r>
                        <a:rPr lang="ru-RU" sz="1200" b="1">
                          <a:solidFill>
                            <a:srgbClr val="000000"/>
                          </a:solidFill>
                          <a:effectLst/>
                        </a:rPr>
                        <a:t>E-stop</a:t>
                      </a:r>
                      <a:endParaRPr lang="ru-RU" sz="120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команды клиентов → вызовы драйвера по очереди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305633"/>
                  </a:ext>
                </a:extLst>
              </a:tr>
              <a:tr h="43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Драйверы устройств</a:t>
                      </a:r>
                      <a:endParaRPr lang="ru-RU" sz="120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перевод абстрактной команды в родной протокол робота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команда + телеметрия ↔ </a:t>
                      </a:r>
                      <a:r>
                        <a:rPr lang="en-US" sz="1200">
                          <a:effectLst/>
                        </a:rPr>
                        <a:t>ROS/serial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326484"/>
                  </a:ext>
                </a:extLst>
              </a:tr>
              <a:tr h="43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Супервизор</a:t>
                      </a:r>
                      <a:endParaRPr lang="ru-RU" sz="120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watchdog процессов, автоперезапуск, пауза очереди на время сбоя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состояние процессов → события </a:t>
                      </a:r>
                      <a:r>
                        <a:rPr lang="ru-RU" sz="1200" dirty="0" err="1">
                          <a:effectLst/>
                        </a:rPr>
                        <a:t>down</a:t>
                      </a:r>
                      <a:r>
                        <a:rPr lang="ru-RU" sz="1200" dirty="0">
                          <a:effectLst/>
                        </a:rPr>
                        <a:t>/</a:t>
                      </a:r>
                      <a:r>
                        <a:rPr lang="ru-RU" sz="1200" dirty="0" err="1">
                          <a:effectLst/>
                        </a:rPr>
                        <a:t>up</a:t>
                      </a:r>
                      <a:endParaRPr lang="ru-RU" sz="120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615096"/>
                  </a:ext>
                </a:extLst>
              </a:tr>
              <a:tr h="4388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Модуль групповых операций</a:t>
                      </a:r>
                      <a:endParaRPr lang="ru-RU" sz="120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серверные сценарии над группой (</a:t>
                      </a:r>
                      <a:r>
                        <a:rPr lang="ru-RU" sz="1200" dirty="0" err="1">
                          <a:effectLst/>
                        </a:rPr>
                        <a:t>sync-test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stop-all</a:t>
                      </a:r>
                      <a:r>
                        <a:rPr lang="ru-RU" sz="1200" dirty="0">
                          <a:effectLst/>
                        </a:rPr>
                        <a:t>, </a:t>
                      </a:r>
                      <a:r>
                        <a:rPr lang="ru-RU" sz="1200" dirty="0" err="1">
                          <a:effectLst/>
                        </a:rPr>
                        <a:t>AllGoHome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имя процедуры → скоординированные команды группе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191137"/>
                  </a:ext>
                </a:extLst>
              </a:tr>
              <a:tr h="31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b="1" dirty="0">
                          <a:solidFill>
                            <a:srgbClr val="000000"/>
                          </a:solidFill>
                          <a:effectLst/>
                        </a:rPr>
                        <a:t>Модуль телеметрии </a:t>
                      </a:r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effectLst/>
                        </a:rPr>
                        <a:t>push/pull</a:t>
                      </a:r>
                      <a:r>
                        <a:rPr lang="ru-RU" sz="1200" b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200" b="0" dirty="0">
                        <a:effectLst/>
                      </a:endParaRP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effectLst/>
                        </a:rPr>
                        <a:t>доставка состояния роботов клиентам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effectLst/>
                        </a:rPr>
                        <a:t>сообщения датчиков → </a:t>
                      </a:r>
                      <a:r>
                        <a:rPr lang="ru-RU" sz="1200" dirty="0" err="1">
                          <a:effectLst/>
                        </a:rPr>
                        <a:t>push</a:t>
                      </a:r>
                      <a:r>
                        <a:rPr lang="ru-RU" sz="1200" dirty="0">
                          <a:effectLst/>
                        </a:rPr>
                        <a:t> / снимок по запросу</a:t>
                      </a:r>
                    </a:p>
                  </a:txBody>
                  <a:tcPr marL="72028" marR="72028" marT="33244" marB="3324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451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4323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4BF198A-F5E5-477D-72AD-5C81A6ED3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1CFB2367-B017-4383-D86F-9EA95832D68C}"/>
              </a:ext>
            </a:extLst>
          </p:cNvPr>
          <p:cNvSpPr/>
          <p:nvPr/>
        </p:nvSpPr>
        <p:spPr>
          <a:xfrm>
            <a:off x="3191340" y="200232"/>
            <a:ext cx="2761320" cy="560655"/>
          </a:xfrm>
          <a:prstGeom prst="roundRect">
            <a:avLst/>
          </a:prstGeom>
          <a:solidFill>
            <a:srgbClr val="EAFDE7"/>
          </a:solidFill>
          <a:ln w="19050"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63E6A0-BCE2-8FC5-A88E-7A805B835359}"/>
              </a:ext>
            </a:extLst>
          </p:cNvPr>
          <p:cNvSpPr txBox="1"/>
          <p:nvPr/>
        </p:nvSpPr>
        <p:spPr>
          <a:xfrm>
            <a:off x="3191340" y="313832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60C064"/>
                </a:solidFill>
              </a:rPr>
              <a:t>L7</a:t>
            </a:r>
            <a:r>
              <a:rPr lang="ru-RU" sz="1600" b="1" dirty="0">
                <a:solidFill>
                  <a:srgbClr val="60C064"/>
                </a:solidFill>
              </a:rPr>
              <a:t> Прикладной уровень</a:t>
            </a:r>
          </a:p>
        </p:txBody>
      </p:sp>
      <p:sp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68C55659-5514-95B6-FB9B-B8EC280F44CD}"/>
              </a:ext>
            </a:extLst>
          </p:cNvPr>
          <p:cNvSpPr/>
          <p:nvPr/>
        </p:nvSpPr>
        <p:spPr>
          <a:xfrm>
            <a:off x="3191340" y="3571507"/>
            <a:ext cx="2761320" cy="560655"/>
          </a:xfrm>
          <a:prstGeom prst="roundRect">
            <a:avLst/>
          </a:prstGeom>
          <a:solidFill>
            <a:srgbClr val="FEF1DE"/>
          </a:solidFill>
          <a:ln w="19050">
            <a:solidFill>
              <a:srgbClr val="FBCD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5D9270-834C-F987-6889-4B4B0203B784}"/>
              </a:ext>
            </a:extLst>
          </p:cNvPr>
          <p:cNvSpPr txBox="1"/>
          <p:nvPr/>
        </p:nvSpPr>
        <p:spPr>
          <a:xfrm>
            <a:off x="3191340" y="3685107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44800"/>
                </a:solidFill>
              </a:rPr>
              <a:t>L</a:t>
            </a:r>
            <a:r>
              <a:rPr lang="ru-RU" sz="1600" b="1" dirty="0">
                <a:solidFill>
                  <a:srgbClr val="F44800"/>
                </a:solidFill>
              </a:rPr>
              <a:t>2   Канальный уровень</a:t>
            </a:r>
          </a:p>
        </p:txBody>
      </p:sp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FAF3DF4F-5E53-9FE1-01E9-A9031BF33C9D}"/>
              </a:ext>
            </a:extLst>
          </p:cNvPr>
          <p:cNvSpPr/>
          <p:nvPr/>
        </p:nvSpPr>
        <p:spPr>
          <a:xfrm>
            <a:off x="3191340" y="4245762"/>
            <a:ext cx="2761320" cy="56065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5FDF242-9705-08C8-F133-E193B7F786BE}"/>
              </a:ext>
            </a:extLst>
          </p:cNvPr>
          <p:cNvSpPr txBox="1"/>
          <p:nvPr/>
        </p:nvSpPr>
        <p:spPr>
          <a:xfrm>
            <a:off x="3191340" y="4359362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L</a:t>
            </a:r>
            <a:r>
              <a:rPr lang="ru-RU" sz="1600" b="1" dirty="0">
                <a:solidFill>
                  <a:schemeClr val="tx1"/>
                </a:solidFill>
              </a:rPr>
              <a:t>1  Физический уровень</a:t>
            </a:r>
          </a:p>
        </p:txBody>
      </p:sp>
      <p:sp>
        <p:nvSpPr>
          <p:cNvPr id="90" name="Прямоугольник: скругленные углы 89">
            <a:extLst>
              <a:ext uri="{FF2B5EF4-FFF2-40B4-BE49-F238E27FC236}">
                <a16:creationId xmlns:a16="http://schemas.microsoft.com/office/drawing/2014/main" id="{430A70FE-BA71-244A-5B68-9DB5C3EE6A87}"/>
              </a:ext>
            </a:extLst>
          </p:cNvPr>
          <p:cNvSpPr/>
          <p:nvPr/>
        </p:nvSpPr>
        <p:spPr>
          <a:xfrm>
            <a:off x="3191340" y="2897252"/>
            <a:ext cx="2761320" cy="56065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0735141-B350-AAD1-B96D-2C5C07B8F5BE}"/>
              </a:ext>
            </a:extLst>
          </p:cNvPr>
          <p:cNvSpPr txBox="1"/>
          <p:nvPr/>
        </p:nvSpPr>
        <p:spPr>
          <a:xfrm>
            <a:off x="3191340" y="3010852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L</a:t>
            </a:r>
            <a:r>
              <a:rPr lang="ru-RU" sz="1600" b="1" dirty="0">
                <a:solidFill>
                  <a:schemeClr val="tx1"/>
                </a:solidFill>
              </a:rPr>
              <a:t>3    Сетевой уровень</a:t>
            </a:r>
          </a:p>
        </p:txBody>
      </p:sp>
      <p:sp>
        <p:nvSpPr>
          <p:cNvPr id="96" name="Прямоугольник: скругленные углы 95">
            <a:extLst>
              <a:ext uri="{FF2B5EF4-FFF2-40B4-BE49-F238E27FC236}">
                <a16:creationId xmlns:a16="http://schemas.microsoft.com/office/drawing/2014/main" id="{6F51F064-30B4-760C-69CC-593B9BF2BDD4}"/>
              </a:ext>
            </a:extLst>
          </p:cNvPr>
          <p:cNvSpPr/>
          <p:nvPr/>
        </p:nvSpPr>
        <p:spPr>
          <a:xfrm>
            <a:off x="3191340" y="1548742"/>
            <a:ext cx="2761320" cy="56065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D4DA558-8034-8A51-9886-4CDD35157D0C}"/>
              </a:ext>
            </a:extLst>
          </p:cNvPr>
          <p:cNvSpPr txBox="1"/>
          <p:nvPr/>
        </p:nvSpPr>
        <p:spPr>
          <a:xfrm>
            <a:off x="3191340" y="1662342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L</a:t>
            </a:r>
            <a:r>
              <a:rPr lang="ru-RU" sz="1600" b="1" dirty="0">
                <a:solidFill>
                  <a:schemeClr val="tx1"/>
                </a:solidFill>
              </a:rPr>
              <a:t>5  Сеансовый уровень</a:t>
            </a:r>
          </a:p>
        </p:txBody>
      </p:sp>
      <p:sp>
        <p:nvSpPr>
          <p:cNvPr id="103" name="Прямоугольник: скругленные углы 102">
            <a:extLst>
              <a:ext uri="{FF2B5EF4-FFF2-40B4-BE49-F238E27FC236}">
                <a16:creationId xmlns:a16="http://schemas.microsoft.com/office/drawing/2014/main" id="{12E46BD7-8D40-4047-1CA0-57A642116F75}"/>
              </a:ext>
            </a:extLst>
          </p:cNvPr>
          <p:cNvSpPr/>
          <p:nvPr/>
        </p:nvSpPr>
        <p:spPr>
          <a:xfrm>
            <a:off x="3191340" y="874487"/>
            <a:ext cx="2761320" cy="56065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13CA5AC-0D08-9A14-10AD-909DD860422A}"/>
              </a:ext>
            </a:extLst>
          </p:cNvPr>
          <p:cNvSpPr txBox="1"/>
          <p:nvPr/>
        </p:nvSpPr>
        <p:spPr>
          <a:xfrm>
            <a:off x="3191340" y="988087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L</a:t>
            </a:r>
            <a:r>
              <a:rPr lang="ru-RU" sz="1600" b="1" dirty="0">
                <a:solidFill>
                  <a:schemeClr val="tx1"/>
                </a:solidFill>
              </a:rPr>
              <a:t>6  </a:t>
            </a:r>
            <a:r>
              <a:rPr lang="ru-RU" b="1" dirty="0">
                <a:solidFill>
                  <a:schemeClr val="tx1"/>
                </a:solidFill>
              </a:rPr>
              <a:t>Уровень представления</a:t>
            </a:r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115" name="Прямоугольник: скругленные углы 114">
            <a:extLst>
              <a:ext uri="{FF2B5EF4-FFF2-40B4-BE49-F238E27FC236}">
                <a16:creationId xmlns:a16="http://schemas.microsoft.com/office/drawing/2014/main" id="{83F28A32-0E9F-0F1E-A785-E074BF9FE736}"/>
              </a:ext>
            </a:extLst>
          </p:cNvPr>
          <p:cNvSpPr/>
          <p:nvPr/>
        </p:nvSpPr>
        <p:spPr>
          <a:xfrm>
            <a:off x="3191340" y="2221571"/>
            <a:ext cx="2761320" cy="560655"/>
          </a:xfrm>
          <a:prstGeom prst="roundRect">
            <a:avLst/>
          </a:prstGeom>
          <a:solidFill>
            <a:srgbClr val="FEF1DE"/>
          </a:solidFill>
          <a:ln w="19050">
            <a:solidFill>
              <a:srgbClr val="FBCD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394574E-AD53-8272-8E33-0C0305FBBA90}"/>
              </a:ext>
            </a:extLst>
          </p:cNvPr>
          <p:cNvSpPr txBox="1"/>
          <p:nvPr/>
        </p:nvSpPr>
        <p:spPr>
          <a:xfrm>
            <a:off x="3191340" y="2335171"/>
            <a:ext cx="2761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44800"/>
                </a:solidFill>
              </a:rPr>
              <a:t>L</a:t>
            </a:r>
            <a:r>
              <a:rPr lang="ru-RU" sz="1600" b="1" dirty="0">
                <a:solidFill>
                  <a:srgbClr val="F44800"/>
                </a:solidFill>
              </a:rPr>
              <a:t>4  </a:t>
            </a:r>
            <a:r>
              <a:rPr lang="ru-RU" b="1" dirty="0">
                <a:solidFill>
                  <a:srgbClr val="F44800"/>
                </a:solidFill>
              </a:rPr>
              <a:t>Транспортный уровень</a:t>
            </a:r>
            <a:endParaRPr lang="ru-RU" sz="1600" b="1" dirty="0">
              <a:solidFill>
                <a:srgbClr val="F448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568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DBE2DD-3F91-27D0-13B8-37067512E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76702C2-8DEC-88B9-595D-8365758A0E61}"/>
              </a:ext>
            </a:extLst>
          </p:cNvPr>
          <p:cNvSpPr/>
          <p:nvPr/>
        </p:nvSpPr>
        <p:spPr>
          <a:xfrm>
            <a:off x="515836" y="1586945"/>
            <a:ext cx="985916" cy="1456606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CAF156-FD56-1B74-4CFB-0FF6F544D289}"/>
              </a:ext>
            </a:extLst>
          </p:cNvPr>
          <p:cNvSpPr txBox="1"/>
          <p:nvPr/>
        </p:nvSpPr>
        <p:spPr>
          <a:xfrm>
            <a:off x="586740" y="1662638"/>
            <a:ext cx="844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solidFill>
                  <a:schemeClr val="tx1"/>
                </a:solidFill>
                <a:latin typeface="Arial Black" panose="020B0A04020102020204" pitchFamily="34" charset="0"/>
              </a:rPr>
              <a:t>Клиент</a:t>
            </a:r>
            <a:endParaRPr lang="en-US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6E1A2AC-B7F0-B35E-B118-6A2345E5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" y="1816296"/>
            <a:ext cx="844107" cy="844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C2A09-30EF-7412-2885-AAC227BDB2E0}"/>
              </a:ext>
            </a:extLst>
          </p:cNvPr>
          <p:cNvSpPr txBox="1"/>
          <p:nvPr/>
        </p:nvSpPr>
        <p:spPr>
          <a:xfrm>
            <a:off x="430196" y="2583229"/>
            <a:ext cx="115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API / GUI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5D6153A-2EE8-9E0E-8A19-2B20667D9BB7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501752" y="2315248"/>
            <a:ext cx="513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93E7E-C20A-3D18-1C97-204B5435F10E}"/>
              </a:ext>
            </a:extLst>
          </p:cNvPr>
          <p:cNvSpPr/>
          <p:nvPr/>
        </p:nvSpPr>
        <p:spPr>
          <a:xfrm>
            <a:off x="2015687" y="1581441"/>
            <a:ext cx="985916" cy="1456606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E3D39C-9573-805A-3451-A4E6F88EA48F}"/>
              </a:ext>
            </a:extLst>
          </p:cNvPr>
          <p:cNvSpPr txBox="1"/>
          <p:nvPr/>
        </p:nvSpPr>
        <p:spPr>
          <a:xfrm>
            <a:off x="2086591" y="1657134"/>
            <a:ext cx="844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>
                <a:solidFill>
                  <a:schemeClr val="tx1"/>
                </a:solidFill>
                <a:latin typeface="Arial Black" panose="020B0A04020102020204" pitchFamily="34" charset="0"/>
              </a:rPr>
              <a:t>Сервер</a:t>
            </a:r>
            <a:endParaRPr lang="en-US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A065EF-3E32-6DB1-FAD8-FC9E7EC85393}"/>
              </a:ext>
            </a:extLst>
          </p:cNvPr>
          <p:cNvSpPr txBox="1"/>
          <p:nvPr/>
        </p:nvSpPr>
        <p:spPr>
          <a:xfrm>
            <a:off x="1930046" y="2618088"/>
            <a:ext cx="115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Ядро управления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D92F42D2-730B-7BF2-1D47-C049896AA74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001603" y="2309744"/>
            <a:ext cx="513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07A6A54-88E3-D8A6-6412-6787BE8BA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304" y="1926735"/>
            <a:ext cx="598677" cy="598677"/>
          </a:xfrm>
          <a:prstGeom prst="rect">
            <a:avLst/>
          </a:prstGeom>
        </p:spPr>
      </p:pic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7BC73595-375E-071E-B614-E7B0D1321D6B}"/>
              </a:ext>
            </a:extLst>
          </p:cNvPr>
          <p:cNvSpPr/>
          <p:nvPr/>
        </p:nvSpPr>
        <p:spPr>
          <a:xfrm>
            <a:off x="3515536" y="1586945"/>
            <a:ext cx="985916" cy="1456606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CC8C20-3AED-70C3-462F-53787AE7890C}"/>
              </a:ext>
            </a:extLst>
          </p:cNvPr>
          <p:cNvSpPr txBox="1"/>
          <p:nvPr/>
        </p:nvSpPr>
        <p:spPr>
          <a:xfrm>
            <a:off x="3586440" y="1662638"/>
            <a:ext cx="8441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 Black" panose="020B0A04020102020204" pitchFamily="34" charset="0"/>
              </a:rPr>
              <a:t>ESP-32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F29B02-856A-421E-01AB-C214CC809F9D}"/>
              </a:ext>
            </a:extLst>
          </p:cNvPr>
          <p:cNvSpPr txBox="1"/>
          <p:nvPr/>
        </p:nvSpPr>
        <p:spPr>
          <a:xfrm>
            <a:off x="3451332" y="2629395"/>
            <a:ext cx="115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«Прозрачный мост»</a:t>
            </a:r>
            <a:endParaRPr lang="en-US" sz="9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195E5DBA-D021-0C95-AA10-D80A5F47FA31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4501452" y="2315248"/>
            <a:ext cx="5139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D43150A9-3500-8ABE-3268-A0B9D3CE1E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2306" y="1701511"/>
            <a:ext cx="1114325" cy="1114325"/>
          </a:xfrm>
          <a:prstGeom prst="rect">
            <a:avLst/>
          </a:prstGeom>
        </p:spPr>
      </p:pic>
      <p:sp>
        <p:nvSpPr>
          <p:cNvPr id="73" name="Прямоугольник: скругленные углы 72">
            <a:extLst>
              <a:ext uri="{FF2B5EF4-FFF2-40B4-BE49-F238E27FC236}">
                <a16:creationId xmlns:a16="http://schemas.microsoft.com/office/drawing/2014/main" id="{4383C2A9-794E-1277-0DDC-E4B5EAE90720}"/>
              </a:ext>
            </a:extLst>
          </p:cNvPr>
          <p:cNvSpPr/>
          <p:nvPr/>
        </p:nvSpPr>
        <p:spPr>
          <a:xfrm>
            <a:off x="5015390" y="1581441"/>
            <a:ext cx="985916" cy="1456606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DEEB214-A569-580E-C7DA-C8F7B482826F}"/>
              </a:ext>
            </a:extLst>
          </p:cNvPr>
          <p:cNvSpPr txBox="1"/>
          <p:nvPr/>
        </p:nvSpPr>
        <p:spPr>
          <a:xfrm>
            <a:off x="5015385" y="1600683"/>
            <a:ext cx="98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Контроллер</a:t>
            </a:r>
          </a:p>
          <a:p>
            <a:pPr algn="ctr"/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устройства</a:t>
            </a:r>
            <a:endParaRPr lang="en-US" sz="9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36A9F76-BB67-F6E4-C83D-409DF799F055}"/>
              </a:ext>
            </a:extLst>
          </p:cNvPr>
          <p:cNvSpPr txBox="1"/>
          <p:nvPr/>
        </p:nvSpPr>
        <p:spPr>
          <a:xfrm>
            <a:off x="4929750" y="2712836"/>
            <a:ext cx="11571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UART</a:t>
            </a:r>
          </a:p>
        </p:txBody>
      </p: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CA7F5B43-3354-F546-A9F9-6A4C221766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2944" y="1997096"/>
            <a:ext cx="610801" cy="610801"/>
          </a:xfrm>
          <a:prstGeom prst="rect">
            <a:avLst/>
          </a:prstGeom>
        </p:spPr>
      </p:pic>
      <p:sp>
        <p:nvSpPr>
          <p:cNvPr id="90" name="Прямоугольник: скругленные углы 89">
            <a:extLst>
              <a:ext uri="{FF2B5EF4-FFF2-40B4-BE49-F238E27FC236}">
                <a16:creationId xmlns:a16="http://schemas.microsoft.com/office/drawing/2014/main" id="{4D7EA9D5-D454-9199-E78D-7AB344AF47CE}"/>
              </a:ext>
            </a:extLst>
          </p:cNvPr>
          <p:cNvSpPr/>
          <p:nvPr/>
        </p:nvSpPr>
        <p:spPr>
          <a:xfrm>
            <a:off x="4050418" y="1129982"/>
            <a:ext cx="1501247" cy="428233"/>
          </a:xfrm>
          <a:prstGeom prst="roundRect">
            <a:avLst/>
          </a:prstGeom>
          <a:solidFill>
            <a:srgbClr val="FEF1DE"/>
          </a:solidFill>
          <a:ln w="19050">
            <a:solidFill>
              <a:srgbClr val="FBCD9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57159B-BE8A-C292-BC53-95FFF61F56A0}"/>
              </a:ext>
            </a:extLst>
          </p:cNvPr>
          <p:cNvSpPr txBox="1"/>
          <p:nvPr/>
        </p:nvSpPr>
        <p:spPr>
          <a:xfrm>
            <a:off x="4050418" y="1141653"/>
            <a:ext cx="150124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b="1" dirty="0">
                <a:solidFill>
                  <a:srgbClr val="F44800"/>
                </a:solidFill>
              </a:rPr>
              <a:t>Мост </a:t>
            </a:r>
            <a:r>
              <a:rPr lang="en-US" sz="1050" b="1" dirty="0">
                <a:solidFill>
                  <a:srgbClr val="F44800"/>
                </a:solidFill>
              </a:rPr>
              <a:t>ESP-32</a:t>
            </a:r>
            <a:endParaRPr lang="ru-RU" sz="1050" b="1" dirty="0">
              <a:solidFill>
                <a:srgbClr val="F44800"/>
              </a:solidFill>
            </a:endParaRPr>
          </a:p>
          <a:p>
            <a:pPr algn="ctr"/>
            <a:r>
              <a:rPr lang="en-US" sz="1050" b="1" dirty="0">
                <a:solidFill>
                  <a:srgbClr val="F44800"/>
                </a:solidFill>
              </a:rPr>
              <a:t>TCP ↔ UART </a:t>
            </a:r>
          </a:p>
        </p:txBody>
      </p:sp>
      <p:cxnSp>
        <p:nvCxnSpPr>
          <p:cNvPr id="99" name="Прямая со стрелкой 98">
            <a:extLst>
              <a:ext uri="{FF2B5EF4-FFF2-40B4-BE49-F238E27FC236}">
                <a16:creationId xmlns:a16="http://schemas.microsoft.com/office/drawing/2014/main" id="{62C76732-70A0-41C5-5CEF-3E90CAE9E594}"/>
              </a:ext>
            </a:extLst>
          </p:cNvPr>
          <p:cNvCxnSpPr>
            <a:cxnSpLocks/>
            <a:stCxn id="95" idx="2"/>
          </p:cNvCxnSpPr>
          <p:nvPr/>
        </p:nvCxnSpPr>
        <p:spPr>
          <a:xfrm>
            <a:off x="4801042" y="1557151"/>
            <a:ext cx="0" cy="733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9" name="Прямоугольник: скругленные углы 118">
            <a:extLst>
              <a:ext uri="{FF2B5EF4-FFF2-40B4-BE49-F238E27FC236}">
                <a16:creationId xmlns:a16="http://schemas.microsoft.com/office/drawing/2014/main" id="{E0E59BA2-FEF2-852C-49E8-B5C3ABD1C55F}"/>
              </a:ext>
            </a:extLst>
          </p:cNvPr>
          <p:cNvSpPr/>
          <p:nvPr/>
        </p:nvSpPr>
        <p:spPr>
          <a:xfrm>
            <a:off x="972195" y="1134713"/>
            <a:ext cx="1501247" cy="428233"/>
          </a:xfrm>
          <a:prstGeom prst="roundRect">
            <a:avLst/>
          </a:prstGeom>
          <a:solidFill>
            <a:srgbClr val="EAFDE7"/>
          </a:solidFill>
          <a:ln w="19050"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FE302D-2713-A35A-A2A8-009CCA48AF73}"/>
              </a:ext>
            </a:extLst>
          </p:cNvPr>
          <p:cNvSpPr txBox="1"/>
          <p:nvPr/>
        </p:nvSpPr>
        <p:spPr>
          <a:xfrm>
            <a:off x="972195" y="1166986"/>
            <a:ext cx="150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60C064"/>
                </a:solidFill>
              </a:rPr>
              <a:t>КТП</a:t>
            </a:r>
          </a:p>
        </p:txBody>
      </p:sp>
      <p:cxnSp>
        <p:nvCxnSpPr>
          <p:cNvPr id="121" name="Прямая со стрелкой 120">
            <a:extLst>
              <a:ext uri="{FF2B5EF4-FFF2-40B4-BE49-F238E27FC236}">
                <a16:creationId xmlns:a16="http://schemas.microsoft.com/office/drawing/2014/main" id="{D8E5BA29-1EC5-08CA-52C2-0079F1F539F8}"/>
              </a:ext>
            </a:extLst>
          </p:cNvPr>
          <p:cNvCxnSpPr>
            <a:cxnSpLocks/>
            <a:stCxn id="119" idx="2"/>
          </p:cNvCxnSpPr>
          <p:nvPr/>
        </p:nvCxnSpPr>
        <p:spPr>
          <a:xfrm>
            <a:off x="1722819" y="1562946"/>
            <a:ext cx="0" cy="728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4" name="Прямоугольник: скругленные углы 133">
            <a:extLst>
              <a:ext uri="{FF2B5EF4-FFF2-40B4-BE49-F238E27FC236}">
                <a16:creationId xmlns:a16="http://schemas.microsoft.com/office/drawing/2014/main" id="{D1E8EF81-9C57-369C-DAF1-2BF56BE04CD8}"/>
              </a:ext>
            </a:extLst>
          </p:cNvPr>
          <p:cNvSpPr/>
          <p:nvPr/>
        </p:nvSpPr>
        <p:spPr>
          <a:xfrm>
            <a:off x="2508894" y="1127127"/>
            <a:ext cx="1501247" cy="428233"/>
          </a:xfrm>
          <a:prstGeom prst="roundRect">
            <a:avLst/>
          </a:prstGeom>
          <a:solidFill>
            <a:srgbClr val="EAFDE7"/>
          </a:solidFill>
          <a:ln w="19050"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5FE302E-6AB3-9B1D-5FD8-48EE0EAD2E34}"/>
              </a:ext>
            </a:extLst>
          </p:cNvPr>
          <p:cNvSpPr txBox="1"/>
          <p:nvPr/>
        </p:nvSpPr>
        <p:spPr>
          <a:xfrm>
            <a:off x="2508642" y="1096396"/>
            <a:ext cx="1501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rgbClr val="60C064"/>
                </a:solidFill>
              </a:rPr>
              <a:t>Пакеты интерфейса</a:t>
            </a:r>
            <a:r>
              <a:rPr lang="en-US" sz="1200" b="1" dirty="0">
                <a:solidFill>
                  <a:srgbClr val="60C064"/>
                </a:solidFill>
              </a:rPr>
              <a:t> </a:t>
            </a:r>
            <a:endParaRPr lang="ru-RU" sz="1200" b="1" dirty="0">
              <a:solidFill>
                <a:srgbClr val="60C064"/>
              </a:solidFill>
            </a:endParaRPr>
          </a:p>
        </p:txBody>
      </p:sp>
      <p:cxnSp>
        <p:nvCxnSpPr>
          <p:cNvPr id="146" name="Прямая со стрелкой 145">
            <a:extLst>
              <a:ext uri="{FF2B5EF4-FFF2-40B4-BE49-F238E27FC236}">
                <a16:creationId xmlns:a16="http://schemas.microsoft.com/office/drawing/2014/main" id="{E5483FB2-18D9-D9D8-3E56-FD87729B3CBB}"/>
              </a:ext>
            </a:extLst>
          </p:cNvPr>
          <p:cNvCxnSpPr>
            <a:cxnSpLocks/>
            <a:stCxn id="134" idx="2"/>
          </p:cNvCxnSpPr>
          <p:nvPr/>
        </p:nvCxnSpPr>
        <p:spPr>
          <a:xfrm flipH="1">
            <a:off x="3257895" y="1555360"/>
            <a:ext cx="1623" cy="728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929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39067697-CAB5-1A2C-D79F-A020813FF945}"/>
              </a:ext>
            </a:extLst>
          </p:cNvPr>
          <p:cNvSpPr/>
          <p:nvPr/>
        </p:nvSpPr>
        <p:spPr>
          <a:xfrm>
            <a:off x="434399" y="3455355"/>
            <a:ext cx="1883280" cy="1283461"/>
          </a:xfrm>
          <a:prstGeom prst="roundRect">
            <a:avLst/>
          </a:prstGeom>
          <a:noFill/>
          <a:ln>
            <a:solidFill>
              <a:srgbClr val="F66D3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76" name="Прямая со стрелкой 75">
            <a:extLst>
              <a:ext uri="{FF2B5EF4-FFF2-40B4-BE49-F238E27FC236}">
                <a16:creationId xmlns:a16="http://schemas.microsoft.com/office/drawing/2014/main" id="{A8CE6098-77A3-2464-A4F3-A5F68F6ED486}"/>
              </a:ext>
            </a:extLst>
          </p:cNvPr>
          <p:cNvCxnSpPr>
            <a:cxnSpLocks/>
          </p:cNvCxnSpPr>
          <p:nvPr/>
        </p:nvCxnSpPr>
        <p:spPr>
          <a:xfrm>
            <a:off x="3647291" y="2764658"/>
            <a:ext cx="0" cy="226931"/>
          </a:xfrm>
          <a:prstGeom prst="straightConnector1">
            <a:avLst/>
          </a:prstGeom>
          <a:ln w="38100">
            <a:solidFill>
              <a:srgbClr val="60C0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B88BBC9-3B20-58B8-41D0-9AC3477EB522}"/>
              </a:ext>
            </a:extLst>
          </p:cNvPr>
          <p:cNvSpPr/>
          <p:nvPr/>
        </p:nvSpPr>
        <p:spPr>
          <a:xfrm>
            <a:off x="715147" y="3555163"/>
            <a:ext cx="1308710" cy="377718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D4EBB4-AA7F-6286-C127-8339A9C346D6}"/>
              </a:ext>
            </a:extLst>
          </p:cNvPr>
          <p:cNvSpPr txBox="1"/>
          <p:nvPr/>
        </p:nvSpPr>
        <p:spPr>
          <a:xfrm>
            <a:off x="453350" y="4726285"/>
            <a:ext cx="1845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Устройство 1 (</a:t>
            </a:r>
            <a:r>
              <a:rPr lang="en-US" sz="1200" dirty="0">
                <a:solidFill>
                  <a:srgbClr val="F44800"/>
                </a:solidFill>
                <a:latin typeface="Arial Black" panose="020B0A04020102020204" pitchFamily="34" charset="0"/>
              </a:rPr>
              <a:t>ROS</a:t>
            </a:r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)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D854ED5-E270-96A8-F590-8C8D58DB2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696" y="3474228"/>
            <a:ext cx="268545" cy="268545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FD944897-D3C6-AA21-A074-50A9DBB9A8F4}"/>
              </a:ext>
            </a:extLst>
          </p:cNvPr>
          <p:cNvSpPr/>
          <p:nvPr/>
        </p:nvSpPr>
        <p:spPr>
          <a:xfrm>
            <a:off x="729506" y="4221390"/>
            <a:ext cx="1289852" cy="369188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30864D-3C6A-E584-C454-1057B6DFCB16}"/>
              </a:ext>
            </a:extLst>
          </p:cNvPr>
          <p:cNvSpPr txBox="1"/>
          <p:nvPr/>
        </p:nvSpPr>
        <p:spPr>
          <a:xfrm>
            <a:off x="715147" y="3604201"/>
            <a:ext cx="1326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ESP-32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CCA9AAC-5233-74F4-1A95-E9FBF295A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253256" y="3953598"/>
            <a:ext cx="242349" cy="24234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41AC3FA-52A9-181D-168D-34C2163D6046}"/>
              </a:ext>
            </a:extLst>
          </p:cNvPr>
          <p:cNvSpPr txBox="1"/>
          <p:nvPr/>
        </p:nvSpPr>
        <p:spPr>
          <a:xfrm>
            <a:off x="744870" y="4222632"/>
            <a:ext cx="126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Контроллер (</a:t>
            </a: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Arduino</a:t>
            </a:r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6DB3B89B-F716-8183-394D-4F1766639FE7}"/>
              </a:ext>
            </a:extLst>
          </p:cNvPr>
          <p:cNvSpPr/>
          <p:nvPr/>
        </p:nvSpPr>
        <p:spPr>
          <a:xfrm>
            <a:off x="-2388907" y="3408897"/>
            <a:ext cx="2356082" cy="1461705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EF27C5-8BD1-D554-C68F-9A7917AF96AB}"/>
              </a:ext>
            </a:extLst>
          </p:cNvPr>
          <p:cNvSpPr txBox="1"/>
          <p:nvPr/>
        </p:nvSpPr>
        <p:spPr>
          <a:xfrm>
            <a:off x="1328258" y="3944975"/>
            <a:ext cx="589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 Black" panose="020B0A04020102020204" pitchFamily="34" charset="0"/>
              </a:rPr>
              <a:t>UART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1A5141FD-4A59-CAD5-B4DC-78C2DE0BD2B5}"/>
              </a:ext>
            </a:extLst>
          </p:cNvPr>
          <p:cNvSpPr/>
          <p:nvPr/>
        </p:nvSpPr>
        <p:spPr>
          <a:xfrm>
            <a:off x="574005" y="3007787"/>
            <a:ext cx="6211424" cy="338554"/>
          </a:xfrm>
          <a:prstGeom prst="roundRect">
            <a:avLst/>
          </a:prstGeom>
          <a:solidFill>
            <a:srgbClr val="E3F1FE"/>
          </a:solidFill>
          <a:ln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A6C82D-75D9-FAE4-DC8B-97D958A76DCD}"/>
              </a:ext>
            </a:extLst>
          </p:cNvPr>
          <p:cNvSpPr txBox="1"/>
          <p:nvPr/>
        </p:nvSpPr>
        <p:spPr>
          <a:xfrm>
            <a:off x="2899811" y="2988532"/>
            <a:ext cx="21687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rgbClr val="0083FF"/>
                </a:solidFill>
                <a:latin typeface="Arial Black" panose="020B0A04020102020204" pitchFamily="34" charset="0"/>
              </a:rPr>
              <a:t>WiFi</a:t>
            </a:r>
            <a:r>
              <a:rPr lang="en-US" sz="1600" dirty="0">
                <a:solidFill>
                  <a:srgbClr val="0083FF"/>
                </a:solidFill>
                <a:latin typeface="Arial Black" panose="020B0A04020102020204" pitchFamily="34" charset="0"/>
              </a:rPr>
              <a:t> (TCP)</a:t>
            </a:r>
            <a:endParaRPr lang="ru-RU" sz="1600" dirty="0">
              <a:solidFill>
                <a:srgbClr val="0083FF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47C6981D-9C29-A13E-15F6-804157EDBC95}"/>
              </a:ext>
            </a:extLst>
          </p:cNvPr>
          <p:cNvCxnSpPr>
            <a:cxnSpLocks/>
          </p:cNvCxnSpPr>
          <p:nvPr/>
        </p:nvCxnSpPr>
        <p:spPr>
          <a:xfrm>
            <a:off x="1357755" y="3334555"/>
            <a:ext cx="0" cy="2269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E4212E00-E17B-C365-46DB-972466AA0842}"/>
              </a:ext>
            </a:extLst>
          </p:cNvPr>
          <p:cNvSpPr/>
          <p:nvPr/>
        </p:nvSpPr>
        <p:spPr>
          <a:xfrm>
            <a:off x="574005" y="2207590"/>
            <a:ext cx="6211424" cy="435380"/>
          </a:xfrm>
          <a:prstGeom prst="roundRect">
            <a:avLst/>
          </a:prstGeom>
          <a:solidFill>
            <a:srgbClr val="EAFDE7"/>
          </a:solidFill>
          <a:ln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D09A1F-4EE9-A62E-DC68-1693DFFEB4C0}"/>
              </a:ext>
            </a:extLst>
          </p:cNvPr>
          <p:cNvSpPr txBox="1"/>
          <p:nvPr/>
        </p:nvSpPr>
        <p:spPr>
          <a:xfrm>
            <a:off x="557662" y="2236063"/>
            <a:ext cx="62114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60C064"/>
                </a:solidFill>
                <a:latin typeface="Arial Black" panose="020B0A04020102020204" pitchFamily="34" charset="0"/>
              </a:rPr>
              <a:t>Транспортный уровень</a:t>
            </a:r>
          </a:p>
        </p:txBody>
      </p:sp>
      <p:sp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077BA46A-5C39-B36C-7504-48260877BA3B}"/>
              </a:ext>
            </a:extLst>
          </p:cNvPr>
          <p:cNvSpPr/>
          <p:nvPr/>
        </p:nvSpPr>
        <p:spPr>
          <a:xfrm>
            <a:off x="3394753" y="2574089"/>
            <a:ext cx="537242" cy="222476"/>
          </a:xfrm>
          <a:prstGeom prst="roundRect">
            <a:avLst/>
          </a:prstGeom>
          <a:solidFill>
            <a:srgbClr val="EAFDE7"/>
          </a:solidFill>
          <a:ln w="12700"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12D6824-0330-1A0B-76F1-1A4FA77A751D}"/>
              </a:ext>
            </a:extLst>
          </p:cNvPr>
          <p:cNvSpPr txBox="1"/>
          <p:nvPr/>
        </p:nvSpPr>
        <p:spPr>
          <a:xfrm>
            <a:off x="3394753" y="2571750"/>
            <a:ext cx="5404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tty2</a:t>
            </a:r>
            <a:endParaRPr lang="ru-RU" sz="9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7C5BF1E-7103-68F0-98CC-C0755F397FE9}"/>
              </a:ext>
            </a:extLst>
          </p:cNvPr>
          <p:cNvSpPr txBox="1"/>
          <p:nvPr/>
        </p:nvSpPr>
        <p:spPr>
          <a:xfrm>
            <a:off x="4652720" y="3864490"/>
            <a:ext cx="36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…</a:t>
            </a:r>
            <a:endParaRPr lang="ru-RU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94" name="Прямоугольник: скругленные углы 93">
            <a:extLst>
              <a:ext uri="{FF2B5EF4-FFF2-40B4-BE49-F238E27FC236}">
                <a16:creationId xmlns:a16="http://schemas.microsoft.com/office/drawing/2014/main" id="{4FCC6E1A-3FE2-8514-8268-3999F66BF65C}"/>
              </a:ext>
            </a:extLst>
          </p:cNvPr>
          <p:cNvSpPr/>
          <p:nvPr/>
        </p:nvSpPr>
        <p:spPr>
          <a:xfrm>
            <a:off x="557662" y="1401806"/>
            <a:ext cx="6227767" cy="602342"/>
          </a:xfrm>
          <a:prstGeom prst="roundRect">
            <a:avLst/>
          </a:prstGeom>
          <a:solidFill>
            <a:srgbClr val="F9EEFA"/>
          </a:solidFill>
          <a:ln>
            <a:solidFill>
              <a:srgbClr val="BD9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CC77F14-9994-51B8-E06A-F1709B9BBE13}"/>
              </a:ext>
            </a:extLst>
          </p:cNvPr>
          <p:cNvSpPr txBox="1"/>
          <p:nvPr/>
        </p:nvSpPr>
        <p:spPr>
          <a:xfrm>
            <a:off x="557662" y="1351644"/>
            <a:ext cx="62277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7030A0"/>
                </a:solidFill>
                <a:latin typeface="Arial Black" panose="020B0A04020102020204" pitchFamily="34" charset="0"/>
              </a:rPr>
              <a:t>Интерфейсы</a:t>
            </a:r>
          </a:p>
        </p:txBody>
      </p:sp>
      <p:sp>
        <p:nvSpPr>
          <p:cNvPr id="98" name="Прямоугольник: скругленные углы 97">
            <a:extLst>
              <a:ext uri="{FF2B5EF4-FFF2-40B4-BE49-F238E27FC236}">
                <a16:creationId xmlns:a16="http://schemas.microsoft.com/office/drawing/2014/main" id="{AE1614D3-3817-FB64-1688-0B17A52A5F3C}"/>
              </a:ext>
            </a:extLst>
          </p:cNvPr>
          <p:cNvSpPr/>
          <p:nvPr/>
        </p:nvSpPr>
        <p:spPr>
          <a:xfrm>
            <a:off x="875450" y="1526549"/>
            <a:ext cx="1798000" cy="417300"/>
          </a:xfrm>
          <a:prstGeom prst="roundRect">
            <a:avLst/>
          </a:prstGeom>
          <a:solidFill>
            <a:srgbClr val="F9EEFA"/>
          </a:solidFill>
          <a:ln>
            <a:solidFill>
              <a:srgbClr val="BD9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B3E3B6D3-C8D5-53E2-6448-E2FC6BB28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16" y="1655960"/>
            <a:ext cx="587173" cy="172187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2651F7FE-CD71-04DC-4044-699F142AD44F}"/>
              </a:ext>
            </a:extLst>
          </p:cNvPr>
          <p:cNvSpPr txBox="1"/>
          <p:nvPr/>
        </p:nvSpPr>
        <p:spPr>
          <a:xfrm>
            <a:off x="1373935" y="1545372"/>
            <a:ext cx="126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ROS Adapter</a:t>
            </a:r>
            <a:b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(</a:t>
            </a:r>
            <a:r>
              <a:rPr lang="en-US" sz="900" dirty="0" err="1">
                <a:solidFill>
                  <a:schemeClr val="tx1"/>
                </a:solidFill>
                <a:latin typeface="Arial Black" panose="020B0A04020102020204" pitchFamily="34" charset="0"/>
              </a:rPr>
              <a:t>rosserial</a:t>
            </a: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  <a:endParaRPr lang="ru-RU" sz="9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02" name="Прямоугольник: скругленные углы 101">
            <a:extLst>
              <a:ext uri="{FF2B5EF4-FFF2-40B4-BE49-F238E27FC236}">
                <a16:creationId xmlns:a16="http://schemas.microsoft.com/office/drawing/2014/main" id="{817BEAA6-F00F-EC90-170D-3DA35EEAE0EE}"/>
              </a:ext>
            </a:extLst>
          </p:cNvPr>
          <p:cNvSpPr/>
          <p:nvPr/>
        </p:nvSpPr>
        <p:spPr>
          <a:xfrm>
            <a:off x="4516298" y="1520371"/>
            <a:ext cx="1798000" cy="417300"/>
          </a:xfrm>
          <a:prstGeom prst="roundRect">
            <a:avLst/>
          </a:prstGeom>
          <a:solidFill>
            <a:srgbClr val="F9EEFA"/>
          </a:solidFill>
          <a:ln>
            <a:solidFill>
              <a:srgbClr val="BD94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0D3F835-0275-1BF9-F888-9F3A9B732D3E}"/>
              </a:ext>
            </a:extLst>
          </p:cNvPr>
          <p:cNvSpPr txBox="1"/>
          <p:nvPr/>
        </p:nvSpPr>
        <p:spPr>
          <a:xfrm>
            <a:off x="5014783" y="1539194"/>
            <a:ext cx="126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Serial Adapter</a:t>
            </a:r>
            <a:b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(</a:t>
            </a:r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прямой обмен</a:t>
            </a: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  <a:endParaRPr lang="ru-RU" sz="9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C7377B-BD81-6D18-9B67-0959634BCCB0}"/>
              </a:ext>
            </a:extLst>
          </p:cNvPr>
          <p:cNvSpPr txBox="1"/>
          <p:nvPr/>
        </p:nvSpPr>
        <p:spPr>
          <a:xfrm>
            <a:off x="3410631" y="1531529"/>
            <a:ext cx="4392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…</a:t>
            </a:r>
            <a:endParaRPr lang="ru-RU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479A36FB-DDDA-C344-D086-EA253AA39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924" y="1611333"/>
            <a:ext cx="511492" cy="247731"/>
          </a:xfrm>
          <a:prstGeom prst="rect">
            <a:avLst/>
          </a:prstGeom>
        </p:spPr>
      </p:pic>
      <p:cxnSp>
        <p:nvCxnSpPr>
          <p:cNvPr id="108" name="Прямая со стрелкой 107">
            <a:extLst>
              <a:ext uri="{FF2B5EF4-FFF2-40B4-BE49-F238E27FC236}">
                <a16:creationId xmlns:a16="http://schemas.microsoft.com/office/drawing/2014/main" id="{238AC0EA-FA98-9A5D-0363-98492190EB7F}"/>
              </a:ext>
            </a:extLst>
          </p:cNvPr>
          <p:cNvCxnSpPr>
            <a:cxnSpLocks/>
          </p:cNvCxnSpPr>
          <p:nvPr/>
        </p:nvCxnSpPr>
        <p:spPr>
          <a:xfrm>
            <a:off x="3628493" y="2004148"/>
            <a:ext cx="0" cy="226931"/>
          </a:xfrm>
          <a:prstGeom prst="straightConnector1">
            <a:avLst/>
          </a:prstGeom>
          <a:ln w="38100">
            <a:solidFill>
              <a:srgbClr val="BD94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Прямоугольник: скругленные углы 110">
            <a:extLst>
              <a:ext uri="{FF2B5EF4-FFF2-40B4-BE49-F238E27FC236}">
                <a16:creationId xmlns:a16="http://schemas.microsoft.com/office/drawing/2014/main" id="{D6BDCC98-F444-B8CD-982A-C4E3A9A0D5C6}"/>
              </a:ext>
            </a:extLst>
          </p:cNvPr>
          <p:cNvSpPr/>
          <p:nvPr/>
        </p:nvSpPr>
        <p:spPr>
          <a:xfrm>
            <a:off x="557662" y="259720"/>
            <a:ext cx="6211423" cy="913229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7B835A3-C2EB-3FF0-B021-6EDE15DD1172}"/>
              </a:ext>
            </a:extLst>
          </p:cNvPr>
          <p:cNvSpPr txBox="1"/>
          <p:nvPr/>
        </p:nvSpPr>
        <p:spPr>
          <a:xfrm>
            <a:off x="557662" y="262503"/>
            <a:ext cx="6211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2F3464"/>
                </a:solidFill>
                <a:latin typeface="Arial Black" panose="020B0A04020102020204" pitchFamily="34" charset="0"/>
              </a:rPr>
              <a:t>Серверное ядро</a:t>
            </a:r>
            <a:endParaRPr lang="ru-RU" sz="1200" dirty="0">
              <a:solidFill>
                <a:srgbClr val="2F3464"/>
              </a:solidFill>
              <a:latin typeface="Arial Black" panose="020B0A04020102020204" pitchFamily="34" charset="0"/>
            </a:endParaRPr>
          </a:p>
        </p:txBody>
      </p:sp>
      <p:sp>
        <p:nvSpPr>
          <p:cNvPr id="113" name="Прямоугольник: скругленные углы 112">
            <a:extLst>
              <a:ext uri="{FF2B5EF4-FFF2-40B4-BE49-F238E27FC236}">
                <a16:creationId xmlns:a16="http://schemas.microsoft.com/office/drawing/2014/main" id="{78248EA2-781B-BAA1-F6E9-20F7D7516C0C}"/>
              </a:ext>
            </a:extLst>
          </p:cNvPr>
          <p:cNvSpPr/>
          <p:nvPr/>
        </p:nvSpPr>
        <p:spPr>
          <a:xfrm>
            <a:off x="738191" y="600330"/>
            <a:ext cx="1154298" cy="513034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5532F16-0AF0-021E-92B1-695AE19E1886}"/>
              </a:ext>
            </a:extLst>
          </p:cNvPr>
          <p:cNvSpPr txBox="1"/>
          <p:nvPr/>
        </p:nvSpPr>
        <p:spPr>
          <a:xfrm>
            <a:off x="720612" y="625923"/>
            <a:ext cx="10419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Arial Black" panose="020B0A04020102020204" pitchFamily="34" charset="0"/>
              </a:rPr>
              <a:t>Контроль доступа</a:t>
            </a:r>
          </a:p>
        </p:txBody>
      </p:sp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6C736AD0-2796-C583-83E2-3E8645752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8825" y="933282"/>
            <a:ext cx="172742" cy="170717"/>
          </a:xfrm>
          <a:prstGeom prst="rect">
            <a:avLst/>
          </a:prstGeom>
        </p:spPr>
      </p:pic>
      <p:sp>
        <p:nvSpPr>
          <p:cNvPr id="117" name="Прямоугольник: скругленные углы 116">
            <a:extLst>
              <a:ext uri="{FF2B5EF4-FFF2-40B4-BE49-F238E27FC236}">
                <a16:creationId xmlns:a16="http://schemas.microsoft.com/office/drawing/2014/main" id="{CEB06AB4-B4A7-4411-67EA-DB4A020E489C}"/>
              </a:ext>
            </a:extLst>
          </p:cNvPr>
          <p:cNvSpPr/>
          <p:nvPr/>
        </p:nvSpPr>
        <p:spPr>
          <a:xfrm>
            <a:off x="1946617" y="608411"/>
            <a:ext cx="1154298" cy="513034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1B9B924-DDC2-CB54-DF60-15D839F7AA94}"/>
              </a:ext>
            </a:extLst>
          </p:cNvPr>
          <p:cNvSpPr txBox="1"/>
          <p:nvPr/>
        </p:nvSpPr>
        <p:spPr>
          <a:xfrm>
            <a:off x="1904993" y="642651"/>
            <a:ext cx="128593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solidFill>
                  <a:schemeClr val="tx1"/>
                </a:solidFill>
                <a:latin typeface="Arial Black" panose="020B0A04020102020204" pitchFamily="34" charset="0"/>
              </a:rPr>
              <a:t>Планировщик команд</a:t>
            </a:r>
          </a:p>
        </p:txBody>
      </p:sp>
      <p:sp>
        <p:nvSpPr>
          <p:cNvPr id="129" name="Прямоугольник: скругленные углы 128">
            <a:extLst>
              <a:ext uri="{FF2B5EF4-FFF2-40B4-BE49-F238E27FC236}">
                <a16:creationId xmlns:a16="http://schemas.microsoft.com/office/drawing/2014/main" id="{5FECBF94-F26F-9D87-2C26-01858146F5F1}"/>
              </a:ext>
            </a:extLst>
          </p:cNvPr>
          <p:cNvSpPr/>
          <p:nvPr/>
        </p:nvSpPr>
        <p:spPr>
          <a:xfrm>
            <a:off x="3139759" y="605999"/>
            <a:ext cx="1154298" cy="513034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2" name="Прямоугольник: скругленные углы 131">
            <a:extLst>
              <a:ext uri="{FF2B5EF4-FFF2-40B4-BE49-F238E27FC236}">
                <a16:creationId xmlns:a16="http://schemas.microsoft.com/office/drawing/2014/main" id="{731CA5AA-68A5-1568-71F0-3B852CB7CFD7}"/>
              </a:ext>
            </a:extLst>
          </p:cNvPr>
          <p:cNvSpPr/>
          <p:nvPr/>
        </p:nvSpPr>
        <p:spPr>
          <a:xfrm>
            <a:off x="4333576" y="605999"/>
            <a:ext cx="1154298" cy="513034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0C8B9C7-9193-4BBB-F32C-63B22B00F2E7}"/>
              </a:ext>
            </a:extLst>
          </p:cNvPr>
          <p:cNvSpPr txBox="1"/>
          <p:nvPr/>
        </p:nvSpPr>
        <p:spPr>
          <a:xfrm>
            <a:off x="4324288" y="651377"/>
            <a:ext cx="1159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Arial Black" panose="020B0A04020102020204" pitchFamily="34" charset="0"/>
              </a:rPr>
              <a:t>Push / Pull </a:t>
            </a:r>
            <a:r>
              <a:rPr lang="ru-RU" sz="1050" dirty="0">
                <a:solidFill>
                  <a:schemeClr val="tx1"/>
                </a:solidFill>
                <a:latin typeface="Arial Black" panose="020B0A04020102020204" pitchFamily="34" charset="0"/>
              </a:rPr>
              <a:t>телеметрия</a:t>
            </a:r>
            <a:endParaRPr lang="en-US" sz="105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35" name="Прямоугольник: скругленные углы 134">
            <a:extLst>
              <a:ext uri="{FF2B5EF4-FFF2-40B4-BE49-F238E27FC236}">
                <a16:creationId xmlns:a16="http://schemas.microsoft.com/office/drawing/2014/main" id="{AEBB4918-B514-1C5B-BAC1-0433B660FC7A}"/>
              </a:ext>
            </a:extLst>
          </p:cNvPr>
          <p:cNvSpPr/>
          <p:nvPr/>
        </p:nvSpPr>
        <p:spPr>
          <a:xfrm>
            <a:off x="5530316" y="611834"/>
            <a:ext cx="1154298" cy="513034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EE4BC54-C40E-A5EC-C6BE-FC46AB62404F}"/>
              </a:ext>
            </a:extLst>
          </p:cNvPr>
          <p:cNvSpPr txBox="1"/>
          <p:nvPr/>
        </p:nvSpPr>
        <p:spPr>
          <a:xfrm>
            <a:off x="5501766" y="632375"/>
            <a:ext cx="1343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Arial Black" panose="020B0A04020102020204" pitchFamily="34" charset="0"/>
              </a:rPr>
              <a:t>Супервизор устройств</a:t>
            </a:r>
          </a:p>
        </p:txBody>
      </p:sp>
      <p:pic>
        <p:nvPicPr>
          <p:cNvPr id="141" name="Рисунок 140">
            <a:extLst>
              <a:ext uri="{FF2B5EF4-FFF2-40B4-BE49-F238E27FC236}">
                <a16:creationId xmlns:a16="http://schemas.microsoft.com/office/drawing/2014/main" id="{814D3930-3426-6046-F5D3-FC4CE192C1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21560" y="955721"/>
            <a:ext cx="144335" cy="142643"/>
          </a:xfrm>
          <a:prstGeom prst="rect">
            <a:avLst/>
          </a:prstGeom>
        </p:spPr>
      </p:pic>
      <p:pic>
        <p:nvPicPr>
          <p:cNvPr id="143" name="Рисунок 142">
            <a:extLst>
              <a:ext uri="{FF2B5EF4-FFF2-40B4-BE49-F238E27FC236}">
                <a16:creationId xmlns:a16="http://schemas.microsoft.com/office/drawing/2014/main" id="{9A2E4055-90B5-FF78-BC54-1F65282A86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47139" y="973878"/>
            <a:ext cx="119963" cy="118557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63198236-7658-3128-0332-76D32229725F}"/>
              </a:ext>
            </a:extLst>
          </p:cNvPr>
          <p:cNvSpPr txBox="1"/>
          <p:nvPr/>
        </p:nvSpPr>
        <p:spPr>
          <a:xfrm>
            <a:off x="3132620" y="632575"/>
            <a:ext cx="1142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tx1"/>
                </a:solidFill>
                <a:latin typeface="Arial Black" panose="020B0A04020102020204" pitchFamily="34" charset="0"/>
              </a:rPr>
              <a:t>Групповые операции</a:t>
            </a:r>
          </a:p>
        </p:txBody>
      </p:sp>
      <p:pic>
        <p:nvPicPr>
          <p:cNvPr id="147" name="Рисунок 146">
            <a:extLst>
              <a:ext uri="{FF2B5EF4-FFF2-40B4-BE49-F238E27FC236}">
                <a16:creationId xmlns:a16="http://schemas.microsoft.com/office/drawing/2014/main" id="{965B5B84-7E26-D69D-5711-9587A16D5C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40428" y="957889"/>
            <a:ext cx="136656" cy="135054"/>
          </a:xfrm>
          <a:prstGeom prst="rect">
            <a:avLst/>
          </a:prstGeom>
        </p:spPr>
      </p:pic>
      <p:pic>
        <p:nvPicPr>
          <p:cNvPr id="149" name="Рисунок 148">
            <a:extLst>
              <a:ext uri="{FF2B5EF4-FFF2-40B4-BE49-F238E27FC236}">
                <a16:creationId xmlns:a16="http://schemas.microsoft.com/office/drawing/2014/main" id="{6CACDABD-59EF-2870-9ED2-4990CDF77E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15047" y="970981"/>
            <a:ext cx="144072" cy="142383"/>
          </a:xfrm>
          <a:prstGeom prst="rect">
            <a:avLst/>
          </a:prstGeom>
        </p:spPr>
      </p:pic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B00F47B6-896E-1F0B-EDAA-ECCCAE597269}"/>
              </a:ext>
            </a:extLst>
          </p:cNvPr>
          <p:cNvCxnSpPr>
            <a:cxnSpLocks/>
          </p:cNvCxnSpPr>
          <p:nvPr/>
        </p:nvCxnSpPr>
        <p:spPr>
          <a:xfrm>
            <a:off x="1340073" y="2756256"/>
            <a:ext cx="0" cy="226931"/>
          </a:xfrm>
          <a:prstGeom prst="straightConnector1">
            <a:avLst/>
          </a:prstGeom>
          <a:ln w="38100">
            <a:solidFill>
              <a:srgbClr val="60C0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A991B52F-EB66-061D-47D1-331F843F7598}"/>
              </a:ext>
            </a:extLst>
          </p:cNvPr>
          <p:cNvSpPr/>
          <p:nvPr/>
        </p:nvSpPr>
        <p:spPr>
          <a:xfrm>
            <a:off x="1087535" y="2565687"/>
            <a:ext cx="537242" cy="222476"/>
          </a:xfrm>
          <a:prstGeom prst="roundRect">
            <a:avLst/>
          </a:prstGeom>
          <a:solidFill>
            <a:srgbClr val="EAFDE7"/>
          </a:solidFill>
          <a:ln w="12700"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E20526-BE40-AB2C-052F-7DE3FBCB3A78}"/>
              </a:ext>
            </a:extLst>
          </p:cNvPr>
          <p:cNvSpPr txBox="1"/>
          <p:nvPr/>
        </p:nvSpPr>
        <p:spPr>
          <a:xfrm>
            <a:off x="1087535" y="2563348"/>
            <a:ext cx="5404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tty1</a:t>
            </a:r>
            <a:endParaRPr lang="ru-RU" sz="9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9CE85875-D603-5615-D6CC-DDF31C24F3E5}"/>
              </a:ext>
            </a:extLst>
          </p:cNvPr>
          <p:cNvCxnSpPr>
            <a:cxnSpLocks/>
          </p:cNvCxnSpPr>
          <p:nvPr/>
        </p:nvCxnSpPr>
        <p:spPr>
          <a:xfrm>
            <a:off x="5957706" y="2760077"/>
            <a:ext cx="0" cy="226931"/>
          </a:xfrm>
          <a:prstGeom prst="straightConnector1">
            <a:avLst/>
          </a:prstGeom>
          <a:ln w="38100">
            <a:solidFill>
              <a:srgbClr val="60C0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B9F26241-8547-F254-F650-8ADB190D03FA}"/>
              </a:ext>
            </a:extLst>
          </p:cNvPr>
          <p:cNvSpPr/>
          <p:nvPr/>
        </p:nvSpPr>
        <p:spPr>
          <a:xfrm>
            <a:off x="5705168" y="2569508"/>
            <a:ext cx="537242" cy="222476"/>
          </a:xfrm>
          <a:prstGeom prst="roundRect">
            <a:avLst/>
          </a:prstGeom>
          <a:solidFill>
            <a:srgbClr val="EAFDE7"/>
          </a:solidFill>
          <a:ln w="12700">
            <a:solidFill>
              <a:srgbClr val="60C06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36B194-90F3-9040-0004-310889E2C210}"/>
              </a:ext>
            </a:extLst>
          </p:cNvPr>
          <p:cNvSpPr txBox="1"/>
          <p:nvPr/>
        </p:nvSpPr>
        <p:spPr>
          <a:xfrm>
            <a:off x="5705168" y="2567169"/>
            <a:ext cx="5404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>
                <a:solidFill>
                  <a:schemeClr val="tx1"/>
                </a:solidFill>
                <a:latin typeface="Arial Black" panose="020B0A04020102020204" pitchFamily="34" charset="0"/>
              </a:rPr>
              <a:t>ttyN</a:t>
            </a:r>
            <a:endParaRPr lang="ru-RU" sz="9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014A6212-C2C1-A098-DA30-D5170E659B88}"/>
              </a:ext>
            </a:extLst>
          </p:cNvPr>
          <p:cNvSpPr/>
          <p:nvPr/>
        </p:nvSpPr>
        <p:spPr>
          <a:xfrm>
            <a:off x="2741005" y="3454113"/>
            <a:ext cx="1883280" cy="1283461"/>
          </a:xfrm>
          <a:prstGeom prst="roundRect">
            <a:avLst/>
          </a:prstGeom>
          <a:noFill/>
          <a:ln>
            <a:solidFill>
              <a:srgbClr val="F66D3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C5E8BBF4-5394-CCD9-5013-FF071821267E}"/>
              </a:ext>
            </a:extLst>
          </p:cNvPr>
          <p:cNvSpPr/>
          <p:nvPr/>
        </p:nvSpPr>
        <p:spPr>
          <a:xfrm>
            <a:off x="3021753" y="3553921"/>
            <a:ext cx="1308710" cy="377718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ED6E6CF-FACB-3AEC-52A5-D56655F3BE9C}"/>
              </a:ext>
            </a:extLst>
          </p:cNvPr>
          <p:cNvSpPr txBox="1"/>
          <p:nvPr/>
        </p:nvSpPr>
        <p:spPr>
          <a:xfrm>
            <a:off x="2683764" y="4725043"/>
            <a:ext cx="2011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Устройство </a:t>
            </a:r>
            <a:r>
              <a:rPr lang="en-US" sz="1200" dirty="0">
                <a:solidFill>
                  <a:srgbClr val="F44800"/>
                </a:solidFill>
                <a:latin typeface="Arial Black" panose="020B0A04020102020204" pitchFamily="34" charset="0"/>
              </a:rPr>
              <a:t>2</a:t>
            </a:r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 (</a:t>
            </a:r>
            <a:r>
              <a:rPr lang="en-US" sz="1200" dirty="0">
                <a:solidFill>
                  <a:srgbClr val="F44800"/>
                </a:solidFill>
                <a:latin typeface="Arial Black" panose="020B0A04020102020204" pitchFamily="34" charset="0"/>
              </a:rPr>
              <a:t>Serial</a:t>
            </a:r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)</a:t>
            </a:r>
          </a:p>
        </p:txBody>
      </p:sp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54AC5DAF-58CE-A2F3-04FD-2FE832834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302" y="3472986"/>
            <a:ext cx="268545" cy="268545"/>
          </a:xfrm>
          <a:prstGeom prst="rect">
            <a:avLst/>
          </a:prstGeom>
        </p:spPr>
      </p:pic>
      <p:sp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50628AEE-2ED7-F637-DFF2-57FCB9784606}"/>
              </a:ext>
            </a:extLst>
          </p:cNvPr>
          <p:cNvSpPr/>
          <p:nvPr/>
        </p:nvSpPr>
        <p:spPr>
          <a:xfrm>
            <a:off x="3036112" y="4220148"/>
            <a:ext cx="1289852" cy="369188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F6C4A9A-5D0D-AB64-95AC-0034695BFCCA}"/>
              </a:ext>
            </a:extLst>
          </p:cNvPr>
          <p:cNvSpPr txBox="1"/>
          <p:nvPr/>
        </p:nvSpPr>
        <p:spPr>
          <a:xfrm>
            <a:off x="3021753" y="3602959"/>
            <a:ext cx="1326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ESP-32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6379B26E-FC82-258B-C362-35F709CCC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559862" y="3952356"/>
            <a:ext cx="242349" cy="242349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3414570-6B75-D42D-6F17-C0B3321C6B05}"/>
              </a:ext>
            </a:extLst>
          </p:cNvPr>
          <p:cNvSpPr txBox="1"/>
          <p:nvPr/>
        </p:nvSpPr>
        <p:spPr>
          <a:xfrm>
            <a:off x="3051476" y="4221390"/>
            <a:ext cx="126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Контроллер (</a:t>
            </a: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Arduino</a:t>
            </a:r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8D9646-0F8A-B76F-B02B-DA36801E0A05}"/>
              </a:ext>
            </a:extLst>
          </p:cNvPr>
          <p:cNvSpPr txBox="1"/>
          <p:nvPr/>
        </p:nvSpPr>
        <p:spPr>
          <a:xfrm>
            <a:off x="3634864" y="3943733"/>
            <a:ext cx="589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 Black" panose="020B0A04020102020204" pitchFamily="34" charset="0"/>
              </a:rPr>
              <a:t>UART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D59180A5-7068-BB3E-E74B-73A757FF4887}"/>
              </a:ext>
            </a:extLst>
          </p:cNvPr>
          <p:cNvCxnSpPr>
            <a:cxnSpLocks/>
          </p:cNvCxnSpPr>
          <p:nvPr/>
        </p:nvCxnSpPr>
        <p:spPr>
          <a:xfrm>
            <a:off x="3664361" y="3333313"/>
            <a:ext cx="0" cy="2269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Прямоугольник: скругленные углы 87">
            <a:extLst>
              <a:ext uri="{FF2B5EF4-FFF2-40B4-BE49-F238E27FC236}">
                <a16:creationId xmlns:a16="http://schemas.microsoft.com/office/drawing/2014/main" id="{9F544821-8CA6-6355-EC66-13A1FA5DC10A}"/>
              </a:ext>
            </a:extLst>
          </p:cNvPr>
          <p:cNvSpPr/>
          <p:nvPr/>
        </p:nvSpPr>
        <p:spPr>
          <a:xfrm>
            <a:off x="5052990" y="3452871"/>
            <a:ext cx="1883280" cy="1283461"/>
          </a:xfrm>
          <a:prstGeom prst="roundRect">
            <a:avLst/>
          </a:prstGeom>
          <a:noFill/>
          <a:ln>
            <a:solidFill>
              <a:srgbClr val="F66D3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0" name="Прямоугольник: скругленные углы 89">
            <a:extLst>
              <a:ext uri="{FF2B5EF4-FFF2-40B4-BE49-F238E27FC236}">
                <a16:creationId xmlns:a16="http://schemas.microsoft.com/office/drawing/2014/main" id="{64FD4067-5F6B-4EE2-C134-9C4AED14D95D}"/>
              </a:ext>
            </a:extLst>
          </p:cNvPr>
          <p:cNvSpPr/>
          <p:nvPr/>
        </p:nvSpPr>
        <p:spPr>
          <a:xfrm>
            <a:off x="5333738" y="3552679"/>
            <a:ext cx="1308710" cy="377718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0D6086B-4D24-AB02-415D-F152F6DB90F3}"/>
              </a:ext>
            </a:extLst>
          </p:cNvPr>
          <p:cNvSpPr txBox="1"/>
          <p:nvPr/>
        </p:nvSpPr>
        <p:spPr>
          <a:xfrm>
            <a:off x="5047610" y="4723801"/>
            <a:ext cx="1997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Устройство </a:t>
            </a:r>
            <a:r>
              <a:rPr lang="en-US" sz="1200" dirty="0">
                <a:solidFill>
                  <a:srgbClr val="F44800"/>
                </a:solidFill>
                <a:latin typeface="Arial Black" panose="020B0A04020102020204" pitchFamily="34" charset="0"/>
              </a:rPr>
              <a:t>N</a:t>
            </a:r>
            <a:r>
              <a:rPr lang="ru-RU" sz="1200" dirty="0">
                <a:solidFill>
                  <a:srgbClr val="F44800"/>
                </a:solidFill>
                <a:latin typeface="Arial Black" panose="020B0A04020102020204" pitchFamily="34" charset="0"/>
              </a:rPr>
              <a:t> (произвольный тип)</a:t>
            </a:r>
          </a:p>
        </p:txBody>
      </p:sp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ED6680F7-7D50-9EE9-043E-32B3FCC01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287" y="3471744"/>
            <a:ext cx="268545" cy="268545"/>
          </a:xfrm>
          <a:prstGeom prst="rect">
            <a:avLst/>
          </a:prstGeom>
        </p:spPr>
      </p:pic>
      <p:sp>
        <p:nvSpPr>
          <p:cNvPr id="99" name="Прямоугольник: скругленные углы 98">
            <a:extLst>
              <a:ext uri="{FF2B5EF4-FFF2-40B4-BE49-F238E27FC236}">
                <a16:creationId xmlns:a16="http://schemas.microsoft.com/office/drawing/2014/main" id="{1A6EF0BA-B348-9068-C5FD-E34812592DDB}"/>
              </a:ext>
            </a:extLst>
          </p:cNvPr>
          <p:cNvSpPr/>
          <p:nvPr/>
        </p:nvSpPr>
        <p:spPr>
          <a:xfrm>
            <a:off x="5348097" y="4218906"/>
            <a:ext cx="1289852" cy="369188"/>
          </a:xfrm>
          <a:prstGeom prst="roundRect">
            <a:avLst/>
          </a:prstGeom>
          <a:solidFill>
            <a:srgbClr val="FEF1DE"/>
          </a:solidFill>
          <a:ln>
            <a:solidFill>
              <a:srgbClr val="FBCD9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0E9F9F4-6263-865C-1B89-37ACF1740175}"/>
              </a:ext>
            </a:extLst>
          </p:cNvPr>
          <p:cNvSpPr txBox="1"/>
          <p:nvPr/>
        </p:nvSpPr>
        <p:spPr>
          <a:xfrm>
            <a:off x="5333738" y="3601717"/>
            <a:ext cx="1326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 Black" panose="020B0A04020102020204" pitchFamily="34" charset="0"/>
              </a:rPr>
              <a:t>ESP-32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06" name="Рисунок 105">
            <a:extLst>
              <a:ext uri="{FF2B5EF4-FFF2-40B4-BE49-F238E27FC236}">
                <a16:creationId xmlns:a16="http://schemas.microsoft.com/office/drawing/2014/main" id="{18C8026B-D70C-AD2E-36A0-18A5E5F7F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71847" y="3951114"/>
            <a:ext cx="242349" cy="242349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4E68317C-96AF-4092-DD58-9CF13E1BCAD6}"/>
              </a:ext>
            </a:extLst>
          </p:cNvPr>
          <p:cNvSpPr txBox="1"/>
          <p:nvPr/>
        </p:nvSpPr>
        <p:spPr>
          <a:xfrm>
            <a:off x="5363461" y="4220148"/>
            <a:ext cx="126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Контроллер (</a:t>
            </a:r>
            <a:r>
              <a:rPr lang="en-US" sz="900" dirty="0">
                <a:solidFill>
                  <a:schemeClr val="tx1"/>
                </a:solidFill>
                <a:latin typeface="Arial Black" panose="020B0A04020102020204" pitchFamily="34" charset="0"/>
              </a:rPr>
              <a:t>Arduino</a:t>
            </a:r>
            <a:r>
              <a:rPr lang="ru-RU" sz="900" dirty="0">
                <a:solidFill>
                  <a:schemeClr val="tx1"/>
                </a:solidFill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5849D94-E8DB-361D-DDC4-72BA0EB8D85E}"/>
              </a:ext>
            </a:extLst>
          </p:cNvPr>
          <p:cNvSpPr txBox="1"/>
          <p:nvPr/>
        </p:nvSpPr>
        <p:spPr>
          <a:xfrm>
            <a:off x="5946849" y="3942491"/>
            <a:ext cx="5895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Arial Black" panose="020B0A04020102020204" pitchFamily="34" charset="0"/>
              </a:rPr>
              <a:t>UART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120" name="Прямая со стрелкой 119">
            <a:extLst>
              <a:ext uri="{FF2B5EF4-FFF2-40B4-BE49-F238E27FC236}">
                <a16:creationId xmlns:a16="http://schemas.microsoft.com/office/drawing/2014/main" id="{26BD3042-3564-330E-3054-EDC53182470A}"/>
              </a:ext>
            </a:extLst>
          </p:cNvPr>
          <p:cNvCxnSpPr>
            <a:cxnSpLocks/>
          </p:cNvCxnSpPr>
          <p:nvPr/>
        </p:nvCxnSpPr>
        <p:spPr>
          <a:xfrm>
            <a:off x="5976346" y="3332071"/>
            <a:ext cx="0" cy="2269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4930B664-4620-A1B6-AB24-BC7837AEF231}"/>
              </a:ext>
            </a:extLst>
          </p:cNvPr>
          <p:cNvSpPr txBox="1"/>
          <p:nvPr/>
        </p:nvSpPr>
        <p:spPr>
          <a:xfrm>
            <a:off x="4649436" y="2514844"/>
            <a:ext cx="365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…</a:t>
            </a:r>
            <a:endParaRPr lang="ru-RU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127" name="Рисунок 126">
            <a:extLst>
              <a:ext uri="{FF2B5EF4-FFF2-40B4-BE49-F238E27FC236}">
                <a16:creationId xmlns:a16="http://schemas.microsoft.com/office/drawing/2014/main" id="{AF112CAE-F98F-5B22-A620-0811D744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17" y="3036199"/>
            <a:ext cx="268545" cy="268545"/>
          </a:xfrm>
          <a:prstGeom prst="rect">
            <a:avLst/>
          </a:prstGeom>
        </p:spPr>
      </p:pic>
      <p:cxnSp>
        <p:nvCxnSpPr>
          <p:cNvPr id="128" name="Прямая со стрелкой 127">
            <a:extLst>
              <a:ext uri="{FF2B5EF4-FFF2-40B4-BE49-F238E27FC236}">
                <a16:creationId xmlns:a16="http://schemas.microsoft.com/office/drawing/2014/main" id="{64449BB6-9BD2-BDA9-AA70-E5BF42FC3D83}"/>
              </a:ext>
            </a:extLst>
          </p:cNvPr>
          <p:cNvCxnSpPr>
            <a:cxnSpLocks/>
          </p:cNvCxnSpPr>
          <p:nvPr/>
        </p:nvCxnSpPr>
        <p:spPr>
          <a:xfrm>
            <a:off x="3628493" y="1174875"/>
            <a:ext cx="0" cy="2269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Прямоугольник: скругленные углы 129">
            <a:extLst>
              <a:ext uri="{FF2B5EF4-FFF2-40B4-BE49-F238E27FC236}">
                <a16:creationId xmlns:a16="http://schemas.microsoft.com/office/drawing/2014/main" id="{9CA458A0-6C8D-1AEE-9027-0EF99E41451F}"/>
              </a:ext>
            </a:extLst>
          </p:cNvPr>
          <p:cNvSpPr/>
          <p:nvPr/>
        </p:nvSpPr>
        <p:spPr>
          <a:xfrm>
            <a:off x="363871" y="123394"/>
            <a:ext cx="6651391" cy="2729431"/>
          </a:xfrm>
          <a:prstGeom prst="round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E15F814-4109-AF6E-5A5E-B0C06DD64014}"/>
              </a:ext>
            </a:extLst>
          </p:cNvPr>
          <p:cNvSpPr txBox="1"/>
          <p:nvPr/>
        </p:nvSpPr>
        <p:spPr>
          <a:xfrm>
            <a:off x="6841466" y="1163550"/>
            <a:ext cx="1786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solidFill>
                  <a:srgbClr val="0070C0"/>
                </a:solidFill>
                <a:latin typeface="Arial Black" panose="020B0A04020102020204" pitchFamily="34" charset="0"/>
              </a:rPr>
              <a:t>Серверная часть</a:t>
            </a:r>
          </a:p>
        </p:txBody>
      </p:sp>
    </p:spTree>
    <p:extLst>
      <p:ext uri="{BB962C8B-B14F-4D97-AF65-F5344CB8AC3E}">
        <p14:creationId xmlns:p14="http://schemas.microsoft.com/office/powerpoint/2010/main" val="2968928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B22C8F5-025D-1DA7-25A7-BB362789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9" r="7549"/>
          <a:stretch>
            <a:fillRect/>
          </a:stretch>
        </p:blipFill>
        <p:spPr>
          <a:xfrm>
            <a:off x="1454972" y="636332"/>
            <a:ext cx="7434857" cy="4486988"/>
          </a:xfrm>
          <a:prstGeom prst="rect">
            <a:avLst/>
          </a:prstGeom>
        </p:spPr>
      </p:pic>
      <p:sp>
        <p:nvSpPr>
          <p:cNvPr id="80" name="Прямоугольник: скругленные углы 79">
            <a:extLst>
              <a:ext uri="{FF2B5EF4-FFF2-40B4-BE49-F238E27FC236}">
                <a16:creationId xmlns:a16="http://schemas.microsoft.com/office/drawing/2014/main" id="{62FB4B26-7887-680F-8BB8-A9464F1CEAD1}"/>
              </a:ext>
            </a:extLst>
          </p:cNvPr>
          <p:cNvSpPr/>
          <p:nvPr/>
        </p:nvSpPr>
        <p:spPr>
          <a:xfrm>
            <a:off x="2708765" y="20180"/>
            <a:ext cx="3726469" cy="307777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502C8D5-ABEC-5318-89E5-4FACB08557E0}"/>
              </a:ext>
            </a:extLst>
          </p:cNvPr>
          <p:cNvSpPr txBox="1"/>
          <p:nvPr/>
        </p:nvSpPr>
        <p:spPr>
          <a:xfrm>
            <a:off x="2884967" y="-15532"/>
            <a:ext cx="3550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2F3464"/>
                </a:solidFill>
                <a:latin typeface="Arial Black" panose="020B0A04020102020204" pitchFamily="34" charset="0"/>
              </a:rPr>
              <a:t>Клиенты</a:t>
            </a:r>
            <a:endParaRPr lang="ru-RU" sz="1100" dirty="0">
              <a:solidFill>
                <a:srgbClr val="2F3464"/>
              </a:solidFill>
              <a:latin typeface="Arial Black" panose="020B0A04020102020204" pitchFamily="34" charset="0"/>
            </a:endParaRPr>
          </a:p>
        </p:txBody>
      </p:sp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0E1D375B-DCF6-2D19-9767-93107ABC7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8568" y="20180"/>
            <a:ext cx="194337" cy="194337"/>
          </a:xfrm>
          <a:prstGeom prst="rect">
            <a:avLst/>
          </a:prstGeom>
        </p:spPr>
      </p:pic>
      <p:sp>
        <p:nvSpPr>
          <p:cNvPr id="86" name="Прямоугольник: скругленные углы 85">
            <a:extLst>
              <a:ext uri="{FF2B5EF4-FFF2-40B4-BE49-F238E27FC236}">
                <a16:creationId xmlns:a16="http://schemas.microsoft.com/office/drawing/2014/main" id="{9FA81F04-9C82-9031-1F8B-434714C5DB5A}"/>
              </a:ext>
            </a:extLst>
          </p:cNvPr>
          <p:cNvSpPr/>
          <p:nvPr/>
        </p:nvSpPr>
        <p:spPr>
          <a:xfrm>
            <a:off x="2810545" y="136893"/>
            <a:ext cx="1135935" cy="274718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1FF37A9-A9CE-4500-2411-3E10D3782421}"/>
              </a:ext>
            </a:extLst>
          </p:cNvPr>
          <p:cNvSpPr txBox="1"/>
          <p:nvPr/>
        </p:nvSpPr>
        <p:spPr>
          <a:xfrm>
            <a:off x="3024254" y="150973"/>
            <a:ext cx="1048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Arial Black" panose="020B0A04020102020204" pitchFamily="34" charset="0"/>
              </a:rPr>
              <a:t>Python API</a:t>
            </a:r>
            <a:endParaRPr lang="ru-RU" sz="1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1C688B7C-0A68-9616-20A3-F87E75620C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698" y="184496"/>
            <a:ext cx="179173" cy="17917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D008A46-1860-F89B-ECFE-BD5232611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425556" y="377445"/>
            <a:ext cx="469087" cy="411058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E1ECF7E3-9CE1-0467-F885-FD9F7F4DE1D3}"/>
              </a:ext>
            </a:extLst>
          </p:cNvPr>
          <p:cNvSpPr txBox="1"/>
          <p:nvPr/>
        </p:nvSpPr>
        <p:spPr>
          <a:xfrm>
            <a:off x="4454570" y="444670"/>
            <a:ext cx="1663700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ln w="34925">
                  <a:noFill/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WebSocket</a:t>
            </a:r>
            <a:r>
              <a:rPr lang="ru-RU" sz="900" dirty="0">
                <a:ln w="34925">
                  <a:noFill/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lang="en-US" sz="900" dirty="0">
                <a:ln w="34925">
                  <a:noFill/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(JSON)</a:t>
            </a:r>
            <a:endParaRPr lang="ru-RU" sz="900" dirty="0">
              <a:ln w="34925">
                <a:noFill/>
              </a:ln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D6186A35-F27C-3255-2461-51E5BC9840B8}"/>
              </a:ext>
            </a:extLst>
          </p:cNvPr>
          <p:cNvSpPr/>
          <p:nvPr/>
        </p:nvSpPr>
        <p:spPr>
          <a:xfrm>
            <a:off x="5197522" y="136893"/>
            <a:ext cx="1135935" cy="274718"/>
          </a:xfrm>
          <a:prstGeom prst="roundRect">
            <a:avLst/>
          </a:prstGeom>
          <a:solidFill>
            <a:srgbClr val="F8FB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CE1652-5BAE-B6D7-99C9-5CDD116AAA76}"/>
              </a:ext>
            </a:extLst>
          </p:cNvPr>
          <p:cNvSpPr txBox="1"/>
          <p:nvPr/>
        </p:nvSpPr>
        <p:spPr>
          <a:xfrm>
            <a:off x="5411231" y="150973"/>
            <a:ext cx="10487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/>
                </a:solidFill>
                <a:latin typeface="Arial Black" panose="020B0A04020102020204" pitchFamily="34" charset="0"/>
              </a:rPr>
              <a:t>GUI / Web</a:t>
            </a:r>
          </a:p>
        </p:txBody>
      </p:sp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3144DF62-36F6-A996-95C5-385E9FB5C5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41790" y="149892"/>
            <a:ext cx="209542" cy="24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55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CA982F2E-FEF7-A699-389C-748DCF0541AA}"/>
              </a:ext>
            </a:extLst>
          </p:cNvPr>
          <p:cNvSpPr/>
          <p:nvPr/>
        </p:nvSpPr>
        <p:spPr>
          <a:xfrm>
            <a:off x="493867" y="1698660"/>
            <a:ext cx="1256961" cy="1398959"/>
          </a:xfrm>
          <a:prstGeom prst="roundRect">
            <a:avLst/>
          </a:prstGeom>
          <a:solidFill>
            <a:srgbClr val="E3F1FE"/>
          </a:solidFill>
          <a:ln w="19050">
            <a:solidFill>
              <a:srgbClr val="9FC4F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F9299-DAC1-BF69-D48B-9844DA71D4B6}"/>
              </a:ext>
            </a:extLst>
          </p:cNvPr>
          <p:cNvSpPr txBox="1"/>
          <p:nvPr/>
        </p:nvSpPr>
        <p:spPr>
          <a:xfrm>
            <a:off x="493867" y="1756561"/>
            <a:ext cx="125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dirty="0">
                <a:solidFill>
                  <a:srgbClr val="2F3464"/>
                </a:solidFill>
                <a:latin typeface="Arial Black" panose="020B0A04020102020204" pitchFamily="34" charset="0"/>
              </a:rPr>
              <a:t>Клиент</a:t>
            </a:r>
            <a:endParaRPr lang="ru-RU" dirty="0">
              <a:solidFill>
                <a:srgbClr val="2F3464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261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1684</Words>
  <Application>Microsoft Office PowerPoint</Application>
  <PresentationFormat>Экран (16:9)</PresentationFormat>
  <Paragraphs>215</Paragraphs>
  <Slides>19</Slides>
  <Notes>13</Notes>
  <HiddenSlides>5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Arial Black</vt:lpstr>
      <vt:lpstr>Office Theme</vt:lpstr>
      <vt:lpstr>Разработка системы управления группой роботов в условиях виртуальной лаборатории </vt:lpstr>
      <vt:lpstr>Введение</vt:lpstr>
      <vt:lpstr>Актуальность</vt:lpstr>
      <vt:lpstr>Презентация PowerPoint</vt:lpstr>
      <vt:lpstr>Презентация PowerPoint</vt:lpstr>
      <vt:lpstr>Архитектура системы</vt:lpstr>
      <vt:lpstr>Протоколы связи (задача унификации)</vt:lpstr>
      <vt:lpstr>Алгоритмы: планировщик команд и механизм потоковой доставки</vt:lpstr>
      <vt:lpstr>Алгоритмы: Групповая навигация «по домам»</vt:lpstr>
      <vt:lpstr>Эксперименты</vt:lpstr>
      <vt:lpstr>Результаты</vt:lpstr>
      <vt:lpstr>Заключение</vt:lpstr>
      <vt:lpstr>Дополнительные материалы</vt:lpstr>
      <vt:lpstr>Серверная архитектура: модули ядра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управления группой роботов в условиях виртуальной лаборатории </dc:title>
  <cp:lastModifiedBy>Максим Щучкин</cp:lastModifiedBy>
  <cp:revision>80</cp:revision>
  <dcterms:modified xsi:type="dcterms:W3CDTF">2026-06-22T22:56:31Z</dcterms:modified>
</cp:coreProperties>
</file>